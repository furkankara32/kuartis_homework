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tr-TR" sz="4400" spc="-1" strike="noStrike">
                <a:latin typeface="Arial"/>
              </a:rPr>
              <a:t>Slaytı taşımak için tıklayın</a:t>
            </a:r>
            <a:endParaRPr b="0" lang="tr-TR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tr-TR" sz="2000" spc="-1" strike="noStrike">
                <a:latin typeface="Arial"/>
              </a:rPr>
              <a:t>Notların biçimini düzenlemek için tıklayın</a:t>
            </a:r>
            <a:endParaRPr b="0" lang="tr-TR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tr-TR" sz="1400" spc="-1" strike="noStrike">
                <a:latin typeface="Times New Roman"/>
              </a:rPr>
              <a:t>&lt;header&gt;</a:t>
            </a:r>
            <a:endParaRPr b="0" lang="tr-TR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tr-T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tr-TR" sz="1400" spc="-1" strike="noStrike">
                <a:latin typeface="Times New Roman"/>
              </a:rPr>
              <a:t>&lt;date/time&gt;</a:t>
            </a:r>
            <a:endParaRPr b="0" lang="tr-TR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tr-TR" sz="1400" spc="-1" strike="noStrike">
                <a:latin typeface="Times New Roman"/>
              </a:defRPr>
            </a:lvl1pPr>
          </a:lstStyle>
          <a:p>
            <a:r>
              <a:rPr b="0" lang="tr-TR" sz="1400" spc="-1" strike="noStrike">
                <a:latin typeface="Times New Roman"/>
              </a:rPr>
              <a:t>&lt;footer&gt;</a:t>
            </a:r>
            <a:endParaRPr b="0" lang="tr-TR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tr-T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D602BB8-4F54-4F08-9189-DB89A6B38058}" type="slidenum">
              <a:rPr b="0" lang="tr-TR" sz="1400" spc="-1" strike="noStrike">
                <a:latin typeface="Times New Roman"/>
              </a:rPr>
              <a:t>&lt;number&gt;</a:t>
            </a:fld>
            <a:endParaRPr b="0" lang="tr-T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9C3D5C-16A0-43DB-9EF1-C6EABD4F997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F270B59-6127-43F1-812B-C32651114F2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A797DB-33E1-4FE4-9285-84FAC7CED5F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FC90B1-F3E7-46E9-B67D-9B8CD9B46A0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1F2E691-D1BD-4CA6-B18D-991CB8A367E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74F037E-9875-45BD-85F0-6299FC8BE14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A863C20-7600-48AD-9CFF-CC23200CBC8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84A192F-F502-4F20-9786-C90A8FDC0B7D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tr-T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tr-T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B6FD874-9F59-4259-8278-5E9606EC6A38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tr-T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23E6CBE-8F14-44EB-857C-5D01D6BB6EF8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tr-T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4DCCCB8-2A0C-46D2-A24F-325E08B95069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tr-T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76EF1D5-048D-478D-BBE9-3E73C888B36F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tr-T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065A3BC-C456-43C0-BCE9-EA817A1FF2D9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tr-T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01EDC59-ECAA-4FC8-A222-5D0B61E632C1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tr-TR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0E1841C-4C3C-495A-986D-10B059E317A4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tr-TR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00AEF8C-77C2-4B5E-81F3-43662D29E2B5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tr-T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1A77FE6-9E53-4D3E-9ABA-25EE2A9FA87A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tr-T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B5D3719-925C-4710-8F9E-81CCCA79F884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tr-TR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AAC68D6-2B5D-41A9-86E5-06C6B3BF998B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146160"/>
            <a:ext cx="12191400" cy="360"/>
          </a:xfrm>
          <a:prstGeom prst="line">
            <a:avLst/>
          </a:prstGeom>
          <a:ln w="38100">
            <a:solidFill>
              <a:srgbClr val="0b2b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Shape 1"/>
          <p:cNvSpPr/>
          <p:nvPr/>
        </p:nvSpPr>
        <p:spPr>
          <a:xfrm>
            <a:off x="0" y="200880"/>
            <a:ext cx="12191400" cy="360"/>
          </a:xfrm>
          <a:prstGeom prst="line">
            <a:avLst/>
          </a:prstGeom>
          <a:ln w="2540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11155680" y="656532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8ea1b3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F47AE1DB-96B6-4CFA-90C2-C0F6F904150A}" type="slidenum">
              <a:rPr b="0" lang="en-US" sz="800" spc="-1" strike="noStrike">
                <a:solidFill>
                  <a:srgbClr val="8ea1b3"/>
                </a:solidFill>
                <a:latin typeface="Aptos"/>
                <a:ea typeface="Aptos"/>
              </a:rPr>
              <a:t>&lt;number&gt;</a:t>
            </a:fld>
            <a:endParaRPr b="0" lang="tr-TR" sz="800" spc="-1" strike="noStrike"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tr-TR" sz="4400" spc="-1" strike="noStrike">
                <a:latin typeface="Arial"/>
              </a:rPr>
              <a:t>Ana başlık metnini düzenlemek için tıklayın</a:t>
            </a:r>
            <a:endParaRPr b="0" lang="tr-TR" sz="4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3200" spc="-1" strike="noStrike">
                <a:latin typeface="Arial"/>
              </a:rPr>
              <a:t>Anahat metninin biçimini düzenlemek için tıklayın</a:t>
            </a:r>
            <a:endParaRPr b="0" lang="tr-T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800" spc="-1" strike="noStrike">
                <a:latin typeface="Arial"/>
              </a:rPr>
              <a:t>İkinci Anahat Düzeyi</a:t>
            </a:r>
            <a:endParaRPr b="0" lang="tr-T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pc="-1" strike="noStrike">
                <a:latin typeface="Arial"/>
              </a:rPr>
              <a:t>Üçüncü Anahat Düzeyi</a:t>
            </a:r>
            <a:endParaRPr b="0" lang="tr-T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latin typeface="Arial"/>
              </a:rPr>
              <a:t>Dördüncü Anahat Düzeyi</a:t>
            </a:r>
            <a:endParaRPr b="0" lang="tr-T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latin typeface="Arial"/>
              </a:rPr>
              <a:t>Beşinci Anahat Düzeyi</a:t>
            </a:r>
            <a:endParaRPr b="0" lang="tr-T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latin typeface="Arial"/>
              </a:rPr>
              <a:t>Altıncı Anahat Düzeyi</a:t>
            </a:r>
            <a:endParaRPr b="0" lang="tr-T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latin typeface="Arial"/>
              </a:rPr>
              <a:t>Yedinci Anahat Düzeyi</a:t>
            </a:r>
            <a:endParaRPr b="0" lang="tr-T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1"/>
          <p:cNvSpPr/>
          <p:nvPr/>
        </p:nvSpPr>
        <p:spPr>
          <a:xfrm>
            <a:off x="0" y="0"/>
            <a:ext cx="12191040" cy="227880"/>
          </a:xfrm>
          <a:prstGeom prst="rect">
            <a:avLst/>
          </a:prstGeom>
          <a:solidFill>
            <a:srgbClr val="0b2b46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2"/>
          <p:cNvSpPr/>
          <p:nvPr/>
        </p:nvSpPr>
        <p:spPr>
          <a:xfrm>
            <a:off x="658440" y="1051560"/>
            <a:ext cx="566856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8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0b2b46"/>
                </a:solidFill>
                <a:latin typeface="Aptos"/>
                <a:ea typeface="DejaVu Sans"/>
              </a:rPr>
              <a:t>BNO085 Embedded</a:t>
            </a:r>
            <a:endParaRPr b="0" lang="tr-TR" sz="3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0b2b46"/>
                </a:solidFill>
                <a:latin typeface="Aptos"/>
                <a:ea typeface="DejaVu Sans"/>
              </a:rPr>
              <a:t>Heading Sensor System</a:t>
            </a:r>
            <a:endParaRPr b="0" lang="tr-TR" sz="3400" spc="-1" strike="noStrike"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676800" y="2331720"/>
            <a:ext cx="5302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64788d"/>
                </a:solidFill>
                <a:latin typeface="Aptos"/>
                <a:ea typeface="DejaVu Sans"/>
              </a:rPr>
              <a:t>STM32F767ZI + FreeRTOS + NMEA 0183 + ROS2 lifecycle driver</a:t>
            </a:r>
            <a:endParaRPr b="0" lang="tr-TR" sz="1600" spc="-1" strike="noStrike"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676440" y="2788920"/>
            <a:ext cx="2834640" cy="360"/>
          </a:xfrm>
          <a:prstGeom prst="line">
            <a:avLst/>
          </a:prstGeom>
          <a:ln w="3810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Shape 5"/>
          <p:cNvSpPr/>
          <p:nvPr/>
        </p:nvSpPr>
        <p:spPr>
          <a:xfrm>
            <a:off x="6629400" y="960120"/>
            <a:ext cx="4799880" cy="4525560"/>
          </a:xfrm>
          <a:prstGeom prst="roundRect">
            <a:avLst>
              <a:gd name="adj" fmla="val 1616"/>
            </a:avLst>
          </a:prstGeom>
          <a:solidFill>
            <a:srgbClr val="e7f7f6"/>
          </a:solidFill>
          <a:ln w="12700">
            <a:solidFill>
              <a:srgbClr val="b8eae7"/>
            </a:solidFill>
            <a:round/>
          </a:ln>
          <a:effectLst>
            <a:outerShdw algn="bl" blurRad="12600" dir="2700000" dist="4989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" name="Text 6"/>
          <p:cNvSpPr/>
          <p:nvPr/>
        </p:nvSpPr>
        <p:spPr>
          <a:xfrm>
            <a:off x="7059240" y="1353240"/>
            <a:ext cx="374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b2b46"/>
                </a:solidFill>
                <a:latin typeface="Aptos"/>
                <a:ea typeface="DejaVu Sans"/>
              </a:rPr>
              <a:t>Objective</a:t>
            </a:r>
            <a:endParaRPr b="0" lang="tr-TR" sz="1800" spc="-1" strike="noStrike"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7086600" y="2030040"/>
            <a:ext cx="90720" cy="90720"/>
          </a:xfrm>
          <a:prstGeom prst="ellipse">
            <a:avLst/>
          </a:prstGeom>
          <a:solidFill>
            <a:srgbClr val="1cb8b2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8"/>
          <p:cNvSpPr/>
          <p:nvPr/>
        </p:nvSpPr>
        <p:spPr>
          <a:xfrm>
            <a:off x="7287840" y="1965960"/>
            <a:ext cx="3611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5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1b3448"/>
                </a:solidFill>
                <a:latin typeface="Aptos"/>
                <a:ea typeface="DejaVu Sans"/>
              </a:rPr>
              <a:t>Acquire calibrated magnetic-field data from BNO085</a:t>
            </a:r>
            <a:endParaRPr b="0" lang="tr-TR" sz="1320" spc="-1" strike="noStrike">
              <a:latin typeface="Arial"/>
            </a:endParaRPr>
          </a:p>
        </p:txBody>
      </p:sp>
      <p:sp>
        <p:nvSpPr>
          <p:cNvPr id="56" name="Shape 9"/>
          <p:cNvSpPr/>
          <p:nvPr/>
        </p:nvSpPr>
        <p:spPr>
          <a:xfrm>
            <a:off x="7086600" y="2697480"/>
            <a:ext cx="90720" cy="90720"/>
          </a:xfrm>
          <a:prstGeom prst="ellipse">
            <a:avLst/>
          </a:prstGeom>
          <a:solidFill>
            <a:srgbClr val="1cb8b2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0"/>
          <p:cNvSpPr/>
          <p:nvPr/>
        </p:nvSpPr>
        <p:spPr>
          <a:xfrm>
            <a:off x="7287840" y="2633400"/>
            <a:ext cx="3748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5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1b3448"/>
                </a:solidFill>
                <a:latin typeface="Aptos"/>
                <a:ea typeface="DejaVu Sans"/>
              </a:rPr>
              <a:t>Calculate magnetic heading and reduce fluctuation on STM32</a:t>
            </a:r>
            <a:endParaRPr b="0" lang="tr-TR" sz="1320" spc="-1" strike="noStrike"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7086600" y="3410640"/>
            <a:ext cx="90720" cy="90720"/>
          </a:xfrm>
          <a:prstGeom prst="ellipse">
            <a:avLst/>
          </a:prstGeom>
          <a:solidFill>
            <a:srgbClr val="1cb8b2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12"/>
          <p:cNvSpPr/>
          <p:nvPr/>
        </p:nvSpPr>
        <p:spPr>
          <a:xfrm>
            <a:off x="7287840" y="3346560"/>
            <a:ext cx="3748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5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1b3448"/>
                </a:solidFill>
                <a:latin typeface="Aptos"/>
                <a:ea typeface="DejaVu Sans"/>
              </a:rPr>
              <a:t>Transmit standard NMEA HDM sentences over UART</a:t>
            </a:r>
            <a:endParaRPr b="0" lang="tr-TR" sz="1320" spc="-1" strike="noStrike">
              <a:latin typeface="Arial"/>
            </a:endParaRPr>
          </a:p>
        </p:txBody>
      </p:sp>
      <p:sp>
        <p:nvSpPr>
          <p:cNvPr id="60" name="Shape 13"/>
          <p:cNvSpPr/>
          <p:nvPr/>
        </p:nvSpPr>
        <p:spPr>
          <a:xfrm>
            <a:off x="7086600" y="4123800"/>
            <a:ext cx="90720" cy="90720"/>
          </a:xfrm>
          <a:prstGeom prst="ellipse">
            <a:avLst/>
          </a:prstGeom>
          <a:solidFill>
            <a:srgbClr val="1cb8b2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14"/>
          <p:cNvSpPr/>
          <p:nvPr/>
        </p:nvSpPr>
        <p:spPr>
          <a:xfrm>
            <a:off x="7287840" y="4060080"/>
            <a:ext cx="3702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5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1b3448"/>
                </a:solidFill>
                <a:latin typeface="Aptos"/>
                <a:ea typeface="DejaVu Sans"/>
              </a:rPr>
              <a:t>Publish ROS2 IMU orientation, TF and diagnostics</a:t>
            </a:r>
            <a:endParaRPr b="0" lang="tr-TR" sz="1320" spc="-1" strike="noStrike">
              <a:latin typeface="Arial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694800" y="5989320"/>
            <a:ext cx="65829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64788d"/>
                </a:solidFill>
                <a:latin typeface="Aptos"/>
                <a:ea typeface="DejaVu Sans"/>
              </a:rPr>
              <a:t>Deliverable focus: reliable sensor acquisition, timing validation and ROS2 integration.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502920" y="6546960"/>
            <a:ext cx="41140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20" spc="-1" strike="noStrike">
                <a:solidFill>
                  <a:srgbClr val="8ea1b3"/>
                </a:solidFill>
                <a:latin typeface="Aptos"/>
                <a:ea typeface="DejaVu Sans"/>
              </a:rPr>
              <a:t>Kuartis Embedded Software Homework · 1</a:t>
            </a:r>
            <a:endParaRPr b="0" lang="tr-TR" sz="720" spc="-1" strike="noStrike"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sldNum" idx="5"/>
          </p:nvPr>
        </p:nvSpPr>
        <p:spPr>
          <a:xfrm>
            <a:off x="11155680" y="656532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8ea1b3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3209D3D4-34EC-4BBA-B80E-B38C4C6A7B49}" type="slidenum">
              <a:rPr b="0" lang="en-US" sz="800" spc="-1" strike="noStrike">
                <a:solidFill>
                  <a:srgbClr val="8ea1b3"/>
                </a:solidFill>
                <a:latin typeface="Aptos"/>
                <a:ea typeface="Aptos"/>
              </a:rPr>
              <a:t>&lt;number&gt;</a:t>
            </a:fld>
            <a:endParaRPr b="0" lang="tr-TR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502920" y="502920"/>
            <a:ext cx="7680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0b2b46"/>
                </a:solidFill>
                <a:latin typeface="Aptos Display"/>
                <a:ea typeface="Aptos Display"/>
              </a:rPr>
              <a:t>End-to-End System Architecture</a:t>
            </a:r>
            <a:endParaRPr b="0" lang="tr-TR" sz="2700" spc="-1" strike="noStrike"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521280" y="896040"/>
            <a:ext cx="71316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64788d"/>
                </a:solidFill>
                <a:latin typeface="Aptos"/>
                <a:ea typeface="DejaVu Sans"/>
              </a:rPr>
              <a:t>From BNO085 calibrated magnetic field to ROS2 orientation and diagnostics.</a:t>
            </a:r>
            <a:endParaRPr b="0" lang="tr-TR" sz="850" spc="-1" strike="noStrike">
              <a:latin typeface="Arial"/>
            </a:endParaRPr>
          </a:p>
        </p:txBody>
      </p:sp>
      <p:sp>
        <p:nvSpPr>
          <p:cNvPr id="67" name="Shape 2"/>
          <p:cNvSpPr/>
          <p:nvPr/>
        </p:nvSpPr>
        <p:spPr>
          <a:xfrm>
            <a:off x="502920" y="1170360"/>
            <a:ext cx="2057400" cy="360"/>
          </a:xfrm>
          <a:prstGeom prst="line">
            <a:avLst/>
          </a:prstGeom>
          <a:ln w="3175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Shape 3"/>
          <p:cNvSpPr/>
          <p:nvPr/>
        </p:nvSpPr>
        <p:spPr>
          <a:xfrm>
            <a:off x="594360" y="1508760"/>
            <a:ext cx="1325160" cy="6210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397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4"/>
          <p:cNvSpPr/>
          <p:nvPr/>
        </p:nvSpPr>
        <p:spPr>
          <a:xfrm>
            <a:off x="640080" y="1581840"/>
            <a:ext cx="12337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b2b46"/>
                </a:solidFill>
                <a:latin typeface="Aptos"/>
                <a:ea typeface="DejaVu Sans"/>
              </a:rPr>
              <a:t>BNO085</a:t>
            </a:r>
            <a:endParaRPr b="0" lang="tr-TR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b2b46"/>
                </a:solidFill>
                <a:latin typeface="Aptos"/>
                <a:ea typeface="DejaVu Sans"/>
              </a:rPr>
              <a:t>magnetometer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2331720" y="1508760"/>
            <a:ext cx="1325160" cy="6210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397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6"/>
          <p:cNvSpPr/>
          <p:nvPr/>
        </p:nvSpPr>
        <p:spPr>
          <a:xfrm>
            <a:off x="2377440" y="1581840"/>
            <a:ext cx="12337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b2b46"/>
                </a:solidFill>
                <a:latin typeface="Aptos"/>
                <a:ea typeface="DejaVu Sans"/>
              </a:rPr>
              <a:t>STM32</a:t>
            </a:r>
            <a:endParaRPr b="0" lang="tr-TR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b2b46"/>
                </a:solidFill>
                <a:latin typeface="Aptos"/>
                <a:ea typeface="DejaVu Sans"/>
              </a:rPr>
              <a:t>SPI/SHTP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72" name="Shape 7"/>
          <p:cNvSpPr/>
          <p:nvPr/>
        </p:nvSpPr>
        <p:spPr>
          <a:xfrm>
            <a:off x="4069080" y="1508760"/>
            <a:ext cx="1325160" cy="6210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397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8"/>
          <p:cNvSpPr/>
          <p:nvPr/>
        </p:nvSpPr>
        <p:spPr>
          <a:xfrm>
            <a:off x="4114800" y="1581840"/>
            <a:ext cx="12337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b2b46"/>
                </a:solidFill>
                <a:latin typeface="Aptos"/>
                <a:ea typeface="DejaVu Sans"/>
              </a:rPr>
              <a:t>Calibration</a:t>
            </a:r>
            <a:endParaRPr b="0" lang="tr-TR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b2b46"/>
                </a:solidFill>
                <a:latin typeface="Aptos"/>
                <a:ea typeface="DejaVu Sans"/>
              </a:rPr>
              <a:t>+ heading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74" name="Shape 9"/>
          <p:cNvSpPr/>
          <p:nvPr/>
        </p:nvSpPr>
        <p:spPr>
          <a:xfrm>
            <a:off x="5806440" y="1508760"/>
            <a:ext cx="1325160" cy="6210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397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10"/>
          <p:cNvSpPr/>
          <p:nvPr/>
        </p:nvSpPr>
        <p:spPr>
          <a:xfrm>
            <a:off x="5852160" y="1581840"/>
            <a:ext cx="12337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b2b46"/>
                </a:solidFill>
                <a:latin typeface="Aptos"/>
                <a:ea typeface="DejaVu Sans"/>
              </a:rPr>
              <a:t>Kalman</a:t>
            </a:r>
            <a:endParaRPr b="0" lang="tr-TR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b2b46"/>
                </a:solidFill>
                <a:latin typeface="Aptos"/>
                <a:ea typeface="DejaVu Sans"/>
              </a:rPr>
              <a:t>X/Y filters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76" name="Shape 11"/>
          <p:cNvSpPr/>
          <p:nvPr/>
        </p:nvSpPr>
        <p:spPr>
          <a:xfrm>
            <a:off x="7543800" y="1508760"/>
            <a:ext cx="1325160" cy="6210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397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12"/>
          <p:cNvSpPr/>
          <p:nvPr/>
        </p:nvSpPr>
        <p:spPr>
          <a:xfrm>
            <a:off x="7589520" y="1581840"/>
            <a:ext cx="12337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b2b46"/>
                </a:solidFill>
                <a:latin typeface="Aptos"/>
                <a:ea typeface="DejaVu Sans"/>
              </a:rPr>
              <a:t>NMEA HDM</a:t>
            </a:r>
            <a:endParaRPr b="0" lang="tr-TR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b2b46"/>
                </a:solidFill>
                <a:latin typeface="Aptos"/>
                <a:ea typeface="DejaVu Sans"/>
              </a:rPr>
              <a:t>UART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78" name="Shape 13"/>
          <p:cNvSpPr/>
          <p:nvPr/>
        </p:nvSpPr>
        <p:spPr>
          <a:xfrm>
            <a:off x="9281160" y="1508760"/>
            <a:ext cx="1325160" cy="621000"/>
          </a:xfrm>
          <a:prstGeom prst="roundRect">
            <a:avLst>
              <a:gd name="adj" fmla="val 7353"/>
            </a:avLst>
          </a:prstGeom>
          <a:solidFill>
            <a:srgbClr val="e7f7f6"/>
          </a:solidFill>
          <a:ln w="13970">
            <a:solidFill>
              <a:srgbClr val="7fd8d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14"/>
          <p:cNvSpPr/>
          <p:nvPr/>
        </p:nvSpPr>
        <p:spPr>
          <a:xfrm>
            <a:off x="9326880" y="1581840"/>
            <a:ext cx="12337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b2b46"/>
                </a:solidFill>
                <a:latin typeface="Aptos"/>
                <a:ea typeface="DejaVu Sans"/>
              </a:rPr>
              <a:t>ROS2</a:t>
            </a:r>
            <a:endParaRPr b="0" lang="tr-TR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b2b46"/>
                </a:solidFill>
                <a:latin typeface="Aptos"/>
                <a:ea typeface="DejaVu Sans"/>
              </a:rPr>
              <a:t>node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80" name="Shape 15"/>
          <p:cNvSpPr/>
          <p:nvPr/>
        </p:nvSpPr>
        <p:spPr>
          <a:xfrm>
            <a:off x="1920240" y="1819440"/>
            <a:ext cx="365760" cy="360"/>
          </a:xfrm>
          <a:prstGeom prst="line">
            <a:avLst/>
          </a:prstGeom>
          <a:ln w="20320">
            <a:solidFill>
              <a:srgbClr val="1cb8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Shape 16"/>
          <p:cNvSpPr/>
          <p:nvPr/>
        </p:nvSpPr>
        <p:spPr>
          <a:xfrm>
            <a:off x="3657600" y="1819440"/>
            <a:ext cx="365760" cy="360"/>
          </a:xfrm>
          <a:prstGeom prst="line">
            <a:avLst/>
          </a:prstGeom>
          <a:ln w="20320">
            <a:solidFill>
              <a:srgbClr val="1cb8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Shape 17"/>
          <p:cNvSpPr/>
          <p:nvPr/>
        </p:nvSpPr>
        <p:spPr>
          <a:xfrm>
            <a:off x="5394960" y="1819440"/>
            <a:ext cx="365760" cy="360"/>
          </a:xfrm>
          <a:prstGeom prst="line">
            <a:avLst/>
          </a:prstGeom>
          <a:ln w="20320">
            <a:solidFill>
              <a:srgbClr val="1cb8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Shape 18"/>
          <p:cNvSpPr/>
          <p:nvPr/>
        </p:nvSpPr>
        <p:spPr>
          <a:xfrm>
            <a:off x="7132320" y="1819440"/>
            <a:ext cx="365760" cy="360"/>
          </a:xfrm>
          <a:prstGeom prst="line">
            <a:avLst/>
          </a:prstGeom>
          <a:ln w="20320">
            <a:solidFill>
              <a:srgbClr val="1cb8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Shape 19"/>
          <p:cNvSpPr/>
          <p:nvPr/>
        </p:nvSpPr>
        <p:spPr>
          <a:xfrm>
            <a:off x="8869680" y="1819440"/>
            <a:ext cx="365760" cy="360"/>
          </a:xfrm>
          <a:prstGeom prst="line">
            <a:avLst/>
          </a:prstGeom>
          <a:ln w="20320">
            <a:solidFill>
              <a:srgbClr val="1cb8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20"/>
          <p:cNvSpPr/>
          <p:nvPr/>
        </p:nvSpPr>
        <p:spPr>
          <a:xfrm>
            <a:off x="685800" y="2606040"/>
            <a:ext cx="21938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46"/>
                </a:solidFill>
                <a:latin typeface="Aptos"/>
                <a:ea typeface="DejaVu Sans"/>
              </a:rPr>
              <a:t>NMEA output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86" name="Shape 21"/>
          <p:cNvSpPr/>
          <p:nvPr/>
        </p:nvSpPr>
        <p:spPr>
          <a:xfrm>
            <a:off x="685800" y="2889360"/>
            <a:ext cx="1737360" cy="360"/>
          </a:xfrm>
          <a:prstGeom prst="line">
            <a:avLst/>
          </a:prstGeom>
          <a:ln w="2540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Shape 22"/>
          <p:cNvSpPr/>
          <p:nvPr/>
        </p:nvSpPr>
        <p:spPr>
          <a:xfrm>
            <a:off x="685800" y="2999160"/>
            <a:ext cx="5257080" cy="187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8" name="Image 0" descr="/mnt/data/nmea.png"/>
          <p:cNvPicPr/>
          <p:nvPr/>
        </p:nvPicPr>
        <p:blipFill>
          <a:blip r:embed="rId1"/>
          <a:stretch/>
        </p:blipFill>
        <p:spPr>
          <a:xfrm>
            <a:off x="713160" y="3108600"/>
            <a:ext cx="5202360" cy="1654920"/>
          </a:xfrm>
          <a:prstGeom prst="rect">
            <a:avLst/>
          </a:prstGeom>
          <a:ln w="0">
            <a:noFill/>
          </a:ln>
        </p:spPr>
      </p:pic>
      <p:sp>
        <p:nvSpPr>
          <p:cNvPr id="89" name="Text 23"/>
          <p:cNvSpPr/>
          <p:nvPr/>
        </p:nvSpPr>
        <p:spPr>
          <a:xfrm>
            <a:off x="713160" y="5047560"/>
            <a:ext cx="5211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46"/>
                </a:solidFill>
                <a:latin typeface="Aptos"/>
                <a:ea typeface="DejaVu Sans"/>
              </a:rPr>
              <a:t>$HCHDM,&lt;heading&gt;,M*checksum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90" name="Text 24"/>
          <p:cNvSpPr/>
          <p:nvPr/>
        </p:nvSpPr>
        <p:spPr>
          <a:xfrm>
            <a:off x="6446520" y="2606040"/>
            <a:ext cx="21938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46"/>
                </a:solidFill>
                <a:latin typeface="Aptos"/>
                <a:ea typeface="DejaVu Sans"/>
              </a:rPr>
              <a:t>Key interfaces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91" name="Shape 25"/>
          <p:cNvSpPr/>
          <p:nvPr/>
        </p:nvSpPr>
        <p:spPr>
          <a:xfrm>
            <a:off x="6446520" y="2889360"/>
            <a:ext cx="1737360" cy="360"/>
          </a:xfrm>
          <a:prstGeom prst="line">
            <a:avLst/>
          </a:prstGeom>
          <a:ln w="2540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Shape 26"/>
          <p:cNvSpPr/>
          <p:nvPr/>
        </p:nvSpPr>
        <p:spPr>
          <a:xfrm>
            <a:off x="6446520" y="2999160"/>
            <a:ext cx="4891320" cy="23310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Shape 27"/>
          <p:cNvSpPr/>
          <p:nvPr/>
        </p:nvSpPr>
        <p:spPr>
          <a:xfrm>
            <a:off x="6720840" y="3429000"/>
            <a:ext cx="90720" cy="90720"/>
          </a:xfrm>
          <a:prstGeom prst="ellipse">
            <a:avLst/>
          </a:prstGeom>
          <a:solidFill>
            <a:srgbClr val="1cb8b2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28"/>
          <p:cNvSpPr/>
          <p:nvPr/>
        </p:nvSpPr>
        <p:spPr>
          <a:xfrm>
            <a:off x="6922080" y="3364920"/>
            <a:ext cx="40683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20" spc="-1" strike="noStrike">
                <a:solidFill>
                  <a:srgbClr val="1b3448"/>
                </a:solidFill>
                <a:latin typeface="Aptos"/>
                <a:ea typeface="DejaVu Sans"/>
              </a:rPr>
              <a:t>BNO085 communication through SPI and SHTP packets</a:t>
            </a:r>
            <a:endParaRPr b="0" lang="tr-TR" sz="1220" spc="-1" strike="noStrike">
              <a:latin typeface="Arial"/>
            </a:endParaRPr>
          </a:p>
        </p:txBody>
      </p:sp>
      <p:sp>
        <p:nvSpPr>
          <p:cNvPr id="95" name="Shape 29"/>
          <p:cNvSpPr/>
          <p:nvPr/>
        </p:nvSpPr>
        <p:spPr>
          <a:xfrm>
            <a:off x="6720840" y="3977640"/>
            <a:ext cx="90720" cy="90720"/>
          </a:xfrm>
          <a:prstGeom prst="ellipse">
            <a:avLst/>
          </a:prstGeom>
          <a:solidFill>
            <a:srgbClr val="1cb8b2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30"/>
          <p:cNvSpPr/>
          <p:nvPr/>
        </p:nvSpPr>
        <p:spPr>
          <a:xfrm>
            <a:off x="6922080" y="3913560"/>
            <a:ext cx="40683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20" spc="-1" strike="noStrike">
                <a:solidFill>
                  <a:srgbClr val="1b3448"/>
                </a:solidFill>
                <a:latin typeface="Aptos"/>
                <a:ea typeface="DejaVu Sans"/>
              </a:rPr>
              <a:t>UART stream uses readable NMEA 0183 HDM format</a:t>
            </a:r>
            <a:endParaRPr b="0" lang="tr-TR" sz="1220" spc="-1" strike="noStrike">
              <a:latin typeface="Arial"/>
            </a:endParaRPr>
          </a:p>
        </p:txBody>
      </p:sp>
      <p:sp>
        <p:nvSpPr>
          <p:cNvPr id="97" name="Shape 31"/>
          <p:cNvSpPr/>
          <p:nvPr/>
        </p:nvSpPr>
        <p:spPr>
          <a:xfrm>
            <a:off x="6720840" y="4526280"/>
            <a:ext cx="90720" cy="90720"/>
          </a:xfrm>
          <a:prstGeom prst="ellipse">
            <a:avLst/>
          </a:prstGeom>
          <a:solidFill>
            <a:srgbClr val="1cb8b2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32"/>
          <p:cNvSpPr/>
          <p:nvPr/>
        </p:nvSpPr>
        <p:spPr>
          <a:xfrm>
            <a:off x="6922080" y="4462200"/>
            <a:ext cx="40683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20" spc="-1" strike="noStrike">
                <a:solidFill>
                  <a:srgbClr val="1b3448"/>
                </a:solidFill>
                <a:latin typeface="Aptos"/>
                <a:ea typeface="DejaVu Sans"/>
              </a:rPr>
              <a:t>ROS2 converts heading into yaw quaternion and TF</a:t>
            </a:r>
            <a:endParaRPr b="0" lang="tr-TR" sz="1220" spc="-1" strike="noStrike">
              <a:latin typeface="Arial"/>
            </a:endParaRPr>
          </a:p>
        </p:txBody>
      </p:sp>
      <p:sp>
        <p:nvSpPr>
          <p:cNvPr id="99" name="Text 33"/>
          <p:cNvSpPr/>
          <p:nvPr/>
        </p:nvSpPr>
        <p:spPr>
          <a:xfrm>
            <a:off x="502920" y="6546960"/>
            <a:ext cx="41140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20" spc="-1" strike="noStrike">
                <a:solidFill>
                  <a:srgbClr val="8ea1b3"/>
                </a:solidFill>
                <a:latin typeface="Aptos"/>
                <a:ea typeface="DejaVu Sans"/>
              </a:rPr>
              <a:t>Kuartis Embedded Software Homework · 2</a:t>
            </a:r>
            <a:endParaRPr b="0" lang="tr-TR" sz="720" spc="-1" strike="noStrike"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sldNum" idx="6"/>
          </p:nvPr>
        </p:nvSpPr>
        <p:spPr>
          <a:xfrm>
            <a:off x="11155680" y="656532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8ea1b3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84EDBC01-5932-459C-821D-49B62C333027}" type="slidenum">
              <a:rPr b="0" lang="en-US" sz="800" spc="-1" strike="noStrike">
                <a:solidFill>
                  <a:srgbClr val="8ea1b3"/>
                </a:solidFill>
                <a:latin typeface="Aptos"/>
                <a:ea typeface="Aptos"/>
              </a:rPr>
              <a:t>&lt;number&gt;</a:t>
            </a:fld>
            <a:endParaRPr b="0" lang="tr-TR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502920" y="502920"/>
            <a:ext cx="7680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0b2b46"/>
                </a:solidFill>
                <a:latin typeface="Aptos Display"/>
                <a:ea typeface="Aptos Display"/>
              </a:rPr>
              <a:t>Embedded Runtime Architecture</a:t>
            </a:r>
            <a:endParaRPr b="0" lang="tr-TR" sz="2700" spc="-1" strike="noStrike"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521280" y="896040"/>
            <a:ext cx="71316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64788d"/>
                </a:solidFill>
                <a:latin typeface="Aptos"/>
                <a:ea typeface="DejaVu Sans"/>
              </a:rPr>
              <a:t>FreeRTOS tasks isolate sensor acquisition from communication output.</a:t>
            </a:r>
            <a:endParaRPr b="0" lang="tr-TR" sz="850" spc="-1" strike="noStrike"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502920" y="1170360"/>
            <a:ext cx="2057400" cy="360"/>
          </a:xfrm>
          <a:prstGeom prst="line">
            <a:avLst/>
          </a:prstGeom>
          <a:ln w="3175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3"/>
          <p:cNvSpPr/>
          <p:nvPr/>
        </p:nvSpPr>
        <p:spPr>
          <a:xfrm>
            <a:off x="594360" y="1417320"/>
            <a:ext cx="25596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46"/>
                </a:solidFill>
                <a:latin typeface="Aptos"/>
                <a:ea typeface="DejaVu Sans"/>
              </a:rPr>
              <a:t>Task-level design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105" name="Shape 4"/>
          <p:cNvSpPr/>
          <p:nvPr/>
        </p:nvSpPr>
        <p:spPr>
          <a:xfrm>
            <a:off x="594360" y="1700640"/>
            <a:ext cx="1737360" cy="360"/>
          </a:xfrm>
          <a:prstGeom prst="line">
            <a:avLst/>
          </a:prstGeom>
          <a:ln w="2540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Shape 5"/>
          <p:cNvSpPr/>
          <p:nvPr/>
        </p:nvSpPr>
        <p:spPr>
          <a:xfrm>
            <a:off x="731520" y="1874520"/>
            <a:ext cx="2056680" cy="730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97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6"/>
          <p:cNvSpPr/>
          <p:nvPr/>
        </p:nvSpPr>
        <p:spPr>
          <a:xfrm>
            <a:off x="777240" y="1947600"/>
            <a:ext cx="19652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20" spc="-1" strike="noStrike">
                <a:solidFill>
                  <a:srgbClr val="0b2b46"/>
                </a:solidFill>
                <a:latin typeface="Aptos"/>
                <a:ea typeface="DejaVu Sans"/>
              </a:rPr>
              <a:t>SensorTask</a:t>
            </a:r>
            <a:endParaRPr b="0" lang="tr-TR" sz="9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20" spc="-1" strike="noStrike">
                <a:solidFill>
                  <a:srgbClr val="0b2b46"/>
                </a:solidFill>
                <a:latin typeface="Aptos"/>
                <a:ea typeface="DejaVu Sans"/>
              </a:rPr>
              <a:t>BNO085 process + heading</a:t>
            </a:r>
            <a:endParaRPr b="0" lang="tr-TR" sz="920" spc="-1" strike="noStrike">
              <a:latin typeface="Arial"/>
            </a:endParaRPr>
          </a:p>
        </p:txBody>
      </p:sp>
      <p:sp>
        <p:nvSpPr>
          <p:cNvPr id="108" name="Shape 7"/>
          <p:cNvSpPr/>
          <p:nvPr/>
        </p:nvSpPr>
        <p:spPr>
          <a:xfrm>
            <a:off x="3154680" y="1874520"/>
            <a:ext cx="1828080" cy="730800"/>
          </a:xfrm>
          <a:prstGeom prst="roundRect">
            <a:avLst>
              <a:gd name="adj" fmla="val 6250"/>
            </a:avLst>
          </a:prstGeom>
          <a:solidFill>
            <a:srgbClr val="e7f7f6"/>
          </a:solidFill>
          <a:ln w="13970">
            <a:solidFill>
              <a:srgbClr val="aee7e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8"/>
          <p:cNvSpPr/>
          <p:nvPr/>
        </p:nvSpPr>
        <p:spPr>
          <a:xfrm>
            <a:off x="3200400" y="1947600"/>
            <a:ext cx="17366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20" spc="-1" strike="noStrike">
                <a:solidFill>
                  <a:srgbClr val="0b2b46"/>
                </a:solidFill>
                <a:latin typeface="Aptos"/>
                <a:ea typeface="DejaVu Sans"/>
              </a:rPr>
              <a:t>FreeRTOS Queue</a:t>
            </a:r>
            <a:endParaRPr b="0" lang="tr-TR" sz="9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20" spc="-1" strike="noStrike">
                <a:solidFill>
                  <a:srgbClr val="0b2b46"/>
                </a:solidFill>
                <a:latin typeface="Aptos"/>
                <a:ea typeface="DejaVu Sans"/>
              </a:rPr>
              <a:t>HeadingMessage</a:t>
            </a:r>
            <a:endParaRPr b="0" lang="tr-TR" sz="920" spc="-1" strike="noStrike"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5349240" y="1874520"/>
            <a:ext cx="2331000" cy="730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97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10"/>
          <p:cNvSpPr/>
          <p:nvPr/>
        </p:nvSpPr>
        <p:spPr>
          <a:xfrm>
            <a:off x="5394960" y="1947600"/>
            <a:ext cx="2239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20" spc="-1" strike="noStrike">
                <a:solidFill>
                  <a:srgbClr val="0b2b46"/>
                </a:solidFill>
                <a:latin typeface="Aptos"/>
                <a:ea typeface="DejaVu Sans"/>
              </a:rPr>
              <a:t>CommunicationTask</a:t>
            </a:r>
            <a:endParaRPr b="0" lang="tr-TR" sz="9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20" spc="-1" strike="noStrike">
                <a:solidFill>
                  <a:srgbClr val="0b2b46"/>
                </a:solidFill>
                <a:latin typeface="Aptos"/>
                <a:ea typeface="DejaVu Sans"/>
              </a:rPr>
              <a:t>NMEA + UART output</a:t>
            </a:r>
            <a:endParaRPr b="0" lang="tr-TR" sz="920" spc="-1" strike="noStrike">
              <a:latin typeface="Arial"/>
            </a:endParaRPr>
          </a:p>
        </p:txBody>
      </p:sp>
      <p:sp>
        <p:nvSpPr>
          <p:cNvPr id="112" name="Shape 11"/>
          <p:cNvSpPr/>
          <p:nvPr/>
        </p:nvSpPr>
        <p:spPr>
          <a:xfrm>
            <a:off x="2788920" y="2240280"/>
            <a:ext cx="365760" cy="360"/>
          </a:xfrm>
          <a:prstGeom prst="line">
            <a:avLst/>
          </a:prstGeom>
          <a:ln w="22860">
            <a:solidFill>
              <a:srgbClr val="1cb8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Shape 12"/>
          <p:cNvSpPr/>
          <p:nvPr/>
        </p:nvSpPr>
        <p:spPr>
          <a:xfrm>
            <a:off x="4983480" y="2240280"/>
            <a:ext cx="365760" cy="360"/>
          </a:xfrm>
          <a:prstGeom prst="line">
            <a:avLst/>
          </a:prstGeom>
          <a:ln w="22860">
            <a:solidFill>
              <a:srgbClr val="1cb8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13"/>
          <p:cNvSpPr/>
          <p:nvPr/>
        </p:nvSpPr>
        <p:spPr>
          <a:xfrm>
            <a:off x="594360" y="3154680"/>
            <a:ext cx="26510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46"/>
                </a:solidFill>
                <a:latin typeface="Aptos"/>
                <a:ea typeface="DejaVu Sans"/>
              </a:rPr>
              <a:t>Sensor state machine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115" name="Shape 14"/>
          <p:cNvSpPr/>
          <p:nvPr/>
        </p:nvSpPr>
        <p:spPr>
          <a:xfrm>
            <a:off x="594360" y="3438000"/>
            <a:ext cx="1737360" cy="360"/>
          </a:xfrm>
          <a:prstGeom prst="line">
            <a:avLst/>
          </a:prstGeom>
          <a:ln w="2540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Shape 15"/>
          <p:cNvSpPr/>
          <p:nvPr/>
        </p:nvSpPr>
        <p:spPr>
          <a:xfrm>
            <a:off x="731520" y="3657600"/>
            <a:ext cx="1416600" cy="456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16"/>
          <p:cNvSpPr/>
          <p:nvPr/>
        </p:nvSpPr>
        <p:spPr>
          <a:xfrm>
            <a:off x="777240" y="3730680"/>
            <a:ext cx="1325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b2b46"/>
                </a:solidFill>
                <a:latin typeface="Aptos"/>
                <a:ea typeface="DejaVu Sans"/>
              </a:rPr>
              <a:t>STARTUP</a:t>
            </a:r>
            <a:endParaRPr b="0" lang="tr-TR" sz="800" spc="-1" strike="noStrike">
              <a:latin typeface="Arial"/>
            </a:endParaRPr>
          </a:p>
        </p:txBody>
      </p:sp>
      <p:sp>
        <p:nvSpPr>
          <p:cNvPr id="118" name="Shape 17"/>
          <p:cNvSpPr/>
          <p:nvPr/>
        </p:nvSpPr>
        <p:spPr>
          <a:xfrm>
            <a:off x="2468880" y="3657600"/>
            <a:ext cx="1416600" cy="456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8"/>
          <p:cNvSpPr/>
          <p:nvPr/>
        </p:nvSpPr>
        <p:spPr>
          <a:xfrm>
            <a:off x="2514600" y="3730680"/>
            <a:ext cx="1325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30" spc="-1" strike="noStrike">
                <a:solidFill>
                  <a:srgbClr val="0b2b46"/>
                </a:solidFill>
                <a:latin typeface="Aptos"/>
                <a:ea typeface="DejaVu Sans"/>
              </a:rPr>
              <a:t>WAIT</a:t>
            </a:r>
            <a:endParaRPr b="0" lang="tr-TR" sz="73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30" spc="-1" strike="noStrike">
                <a:solidFill>
                  <a:srgbClr val="0b2b46"/>
                </a:solidFill>
                <a:latin typeface="Aptos"/>
                <a:ea typeface="DejaVu Sans"/>
              </a:rPr>
              <a:t>PRODUCT ID</a:t>
            </a:r>
            <a:endParaRPr b="0" lang="tr-TR" sz="730" spc="-1" strike="noStrike">
              <a:latin typeface="Arial"/>
            </a:endParaRPr>
          </a:p>
        </p:txBody>
      </p:sp>
      <p:sp>
        <p:nvSpPr>
          <p:cNvPr id="120" name="Shape 19"/>
          <p:cNvSpPr/>
          <p:nvPr/>
        </p:nvSpPr>
        <p:spPr>
          <a:xfrm>
            <a:off x="4206240" y="3657600"/>
            <a:ext cx="1416600" cy="456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20"/>
          <p:cNvSpPr/>
          <p:nvPr/>
        </p:nvSpPr>
        <p:spPr>
          <a:xfrm>
            <a:off x="4251960" y="3730680"/>
            <a:ext cx="1325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b2b46"/>
                </a:solidFill>
                <a:latin typeface="Aptos"/>
                <a:ea typeface="DejaVu Sans"/>
              </a:rPr>
              <a:t>CALIBRATING</a:t>
            </a:r>
            <a:endParaRPr b="0" lang="tr-TR" sz="800" spc="-1" strike="noStrike">
              <a:latin typeface="Arial"/>
            </a:endParaRPr>
          </a:p>
        </p:txBody>
      </p:sp>
      <p:sp>
        <p:nvSpPr>
          <p:cNvPr id="122" name="Shape 21"/>
          <p:cNvSpPr/>
          <p:nvPr/>
        </p:nvSpPr>
        <p:spPr>
          <a:xfrm>
            <a:off x="5943600" y="3657600"/>
            <a:ext cx="1416600" cy="456480"/>
          </a:xfrm>
          <a:prstGeom prst="roundRect">
            <a:avLst>
              <a:gd name="adj" fmla="val 10000"/>
            </a:avLst>
          </a:prstGeom>
          <a:solidFill>
            <a:srgbClr val="1cb8b2"/>
          </a:solidFill>
          <a:ln w="1397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22"/>
          <p:cNvSpPr/>
          <p:nvPr/>
        </p:nvSpPr>
        <p:spPr>
          <a:xfrm>
            <a:off x="5989320" y="3730680"/>
            <a:ext cx="1325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  <a:ea typeface="DejaVu Sans"/>
              </a:rPr>
              <a:t>RUNNING</a:t>
            </a:r>
            <a:endParaRPr b="0" lang="tr-TR" sz="800" spc="-1" strike="noStrike">
              <a:latin typeface="Arial"/>
            </a:endParaRPr>
          </a:p>
        </p:txBody>
      </p:sp>
      <p:sp>
        <p:nvSpPr>
          <p:cNvPr id="124" name="Shape 23"/>
          <p:cNvSpPr/>
          <p:nvPr/>
        </p:nvSpPr>
        <p:spPr>
          <a:xfrm>
            <a:off x="2148840" y="3886200"/>
            <a:ext cx="274320" cy="360"/>
          </a:xfrm>
          <a:prstGeom prst="line">
            <a:avLst/>
          </a:prstGeom>
          <a:ln w="15240">
            <a:solidFill>
              <a:srgbClr val="64788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Shape 24"/>
          <p:cNvSpPr/>
          <p:nvPr/>
        </p:nvSpPr>
        <p:spPr>
          <a:xfrm>
            <a:off x="3886200" y="3886200"/>
            <a:ext cx="274320" cy="360"/>
          </a:xfrm>
          <a:prstGeom prst="line">
            <a:avLst/>
          </a:prstGeom>
          <a:ln w="15240">
            <a:solidFill>
              <a:srgbClr val="64788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25"/>
          <p:cNvSpPr/>
          <p:nvPr/>
        </p:nvSpPr>
        <p:spPr>
          <a:xfrm>
            <a:off x="5623560" y="3886200"/>
            <a:ext cx="274320" cy="360"/>
          </a:xfrm>
          <a:prstGeom prst="line">
            <a:avLst/>
          </a:prstGeom>
          <a:ln w="15240">
            <a:solidFill>
              <a:srgbClr val="64788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hape 26"/>
          <p:cNvSpPr/>
          <p:nvPr/>
        </p:nvSpPr>
        <p:spPr>
          <a:xfrm>
            <a:off x="6652080" y="4169520"/>
            <a:ext cx="360" cy="484560"/>
          </a:xfrm>
          <a:prstGeom prst="line">
            <a:avLst/>
          </a:prstGeom>
          <a:ln w="17145">
            <a:solidFill>
              <a:srgbClr val="f39a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Shape 27"/>
          <p:cNvSpPr/>
          <p:nvPr/>
        </p:nvSpPr>
        <p:spPr>
          <a:xfrm>
            <a:off x="5875200" y="4709160"/>
            <a:ext cx="1553760" cy="456480"/>
          </a:xfrm>
          <a:prstGeom prst="roundRect">
            <a:avLst>
              <a:gd name="adj" fmla="val 10000"/>
            </a:avLst>
          </a:prstGeom>
          <a:solidFill>
            <a:srgbClr val="f39a24"/>
          </a:solidFill>
          <a:ln w="13970">
            <a:solidFill>
              <a:srgbClr val="f39a2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28"/>
          <p:cNvSpPr/>
          <p:nvPr/>
        </p:nvSpPr>
        <p:spPr>
          <a:xfrm>
            <a:off x="5920920" y="4782240"/>
            <a:ext cx="1462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  <a:ea typeface="DejaVu Sans"/>
              </a:rPr>
              <a:t>RECOVERY</a:t>
            </a:r>
            <a:endParaRPr b="0" lang="tr-TR" sz="800" spc="-1" strike="noStrike">
              <a:latin typeface="Arial"/>
            </a:endParaRPr>
          </a:p>
        </p:txBody>
      </p:sp>
      <p:sp>
        <p:nvSpPr>
          <p:cNvPr id="130" name="Text 29"/>
          <p:cNvSpPr/>
          <p:nvPr/>
        </p:nvSpPr>
        <p:spPr>
          <a:xfrm>
            <a:off x="758880" y="5513760"/>
            <a:ext cx="4754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30" spc="-1" strike="noStrike">
                <a:solidFill>
                  <a:srgbClr val="64788d"/>
                </a:solidFill>
                <a:latin typeface="Aptos"/>
                <a:ea typeface="DejaVu Sans"/>
              </a:rPr>
              <a:t>Timeouts and communication errors trigger recovery and re-initialization.</a:t>
            </a:r>
            <a:endParaRPr b="0" lang="tr-TR" sz="930" spc="-1" strike="noStrike">
              <a:latin typeface="Arial"/>
            </a:endParaRPr>
          </a:p>
        </p:txBody>
      </p:sp>
      <p:sp>
        <p:nvSpPr>
          <p:cNvPr id="131" name="Text 30"/>
          <p:cNvSpPr/>
          <p:nvPr/>
        </p:nvSpPr>
        <p:spPr>
          <a:xfrm>
            <a:off x="8275320" y="1417320"/>
            <a:ext cx="2468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46"/>
                </a:solidFill>
                <a:latin typeface="Aptos"/>
                <a:ea typeface="DejaVu Sans"/>
              </a:rPr>
              <a:t>UART output path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132" name="Shape 31"/>
          <p:cNvSpPr/>
          <p:nvPr/>
        </p:nvSpPr>
        <p:spPr>
          <a:xfrm>
            <a:off x="8275320" y="1700640"/>
            <a:ext cx="1737360" cy="360"/>
          </a:xfrm>
          <a:prstGeom prst="line">
            <a:avLst/>
          </a:prstGeom>
          <a:ln w="2540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Shape 32"/>
          <p:cNvSpPr/>
          <p:nvPr/>
        </p:nvSpPr>
        <p:spPr>
          <a:xfrm>
            <a:off x="8458200" y="1965960"/>
            <a:ext cx="2285280" cy="502200"/>
          </a:xfrm>
          <a:prstGeom prst="roundRect">
            <a:avLst>
              <a:gd name="adj" fmla="val 9091"/>
            </a:avLst>
          </a:prstGeom>
          <a:solidFill>
            <a:srgbClr val="102d49"/>
          </a:solidFill>
          <a:ln w="13970">
            <a:solidFill>
              <a:srgbClr val="102d4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3"/>
          <p:cNvSpPr/>
          <p:nvPr/>
        </p:nvSpPr>
        <p:spPr>
          <a:xfrm>
            <a:off x="8503920" y="2039040"/>
            <a:ext cx="21938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  <a:ea typeface="DejaVu Sans"/>
              </a:rPr>
              <a:t>NMEA sentence</a:t>
            </a:r>
            <a:endParaRPr b="0" lang="tr-TR" sz="850" spc="-1" strike="noStrike">
              <a:latin typeface="Arial"/>
            </a:endParaRPr>
          </a:p>
        </p:txBody>
      </p:sp>
      <p:sp>
        <p:nvSpPr>
          <p:cNvPr id="135" name="Shape 34"/>
          <p:cNvSpPr/>
          <p:nvPr/>
        </p:nvSpPr>
        <p:spPr>
          <a:xfrm>
            <a:off x="8458200" y="2816280"/>
            <a:ext cx="2285280" cy="502200"/>
          </a:xfrm>
          <a:prstGeom prst="roundRect">
            <a:avLst>
              <a:gd name="adj" fmla="val 9091"/>
            </a:avLst>
          </a:prstGeom>
          <a:solidFill>
            <a:srgbClr val="1cb8b2"/>
          </a:solidFill>
          <a:ln w="1397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35"/>
          <p:cNvSpPr/>
          <p:nvPr/>
        </p:nvSpPr>
        <p:spPr>
          <a:xfrm>
            <a:off x="8503920" y="2889360"/>
            <a:ext cx="21938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  <a:ea typeface="DejaVu Sans"/>
              </a:rPr>
              <a:t>TX ring buffer</a:t>
            </a:r>
            <a:endParaRPr b="0" lang="tr-TR" sz="850" spc="-1" strike="noStrike">
              <a:latin typeface="Arial"/>
            </a:endParaRPr>
          </a:p>
        </p:txBody>
      </p:sp>
      <p:sp>
        <p:nvSpPr>
          <p:cNvPr id="137" name="Shape 36"/>
          <p:cNvSpPr/>
          <p:nvPr/>
        </p:nvSpPr>
        <p:spPr>
          <a:xfrm>
            <a:off x="8458200" y="3666600"/>
            <a:ext cx="2285280" cy="502200"/>
          </a:xfrm>
          <a:prstGeom prst="roundRect">
            <a:avLst>
              <a:gd name="adj" fmla="val 9091"/>
            </a:avLst>
          </a:prstGeom>
          <a:solidFill>
            <a:srgbClr val="102d49"/>
          </a:solidFill>
          <a:ln w="13970">
            <a:solidFill>
              <a:srgbClr val="102d4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37"/>
          <p:cNvSpPr/>
          <p:nvPr/>
        </p:nvSpPr>
        <p:spPr>
          <a:xfrm>
            <a:off x="8503920" y="3740040"/>
            <a:ext cx="21938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  <a:ea typeface="DejaVu Sans"/>
              </a:rPr>
              <a:t>Interrupt-driven UART</a:t>
            </a:r>
            <a:endParaRPr b="0" lang="tr-TR" sz="850" spc="-1" strike="noStrike">
              <a:latin typeface="Arial"/>
            </a:endParaRPr>
          </a:p>
        </p:txBody>
      </p:sp>
      <p:sp>
        <p:nvSpPr>
          <p:cNvPr id="139" name="Shape 38"/>
          <p:cNvSpPr/>
          <p:nvPr/>
        </p:nvSpPr>
        <p:spPr>
          <a:xfrm>
            <a:off x="8458200" y="4517280"/>
            <a:ext cx="2285280" cy="502200"/>
          </a:xfrm>
          <a:prstGeom prst="roundRect">
            <a:avLst>
              <a:gd name="adj" fmla="val 9091"/>
            </a:avLst>
          </a:prstGeom>
          <a:solidFill>
            <a:srgbClr val="e7f7f6"/>
          </a:solidFill>
          <a:ln w="13970">
            <a:solidFill>
              <a:srgbClr val="aee7e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39"/>
          <p:cNvSpPr/>
          <p:nvPr/>
        </p:nvSpPr>
        <p:spPr>
          <a:xfrm>
            <a:off x="8503920" y="4590360"/>
            <a:ext cx="21938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0b2b46"/>
                </a:solidFill>
                <a:latin typeface="Aptos"/>
                <a:ea typeface="DejaVu Sans"/>
              </a:rPr>
              <a:t>ROS2 serial input</a:t>
            </a:r>
            <a:endParaRPr b="0" lang="tr-TR" sz="850" spc="-1" strike="noStrike">
              <a:latin typeface="Arial"/>
            </a:endParaRPr>
          </a:p>
        </p:txBody>
      </p:sp>
      <p:sp>
        <p:nvSpPr>
          <p:cNvPr id="141" name="Shape 40"/>
          <p:cNvSpPr/>
          <p:nvPr/>
        </p:nvSpPr>
        <p:spPr>
          <a:xfrm>
            <a:off x="9601200" y="2468880"/>
            <a:ext cx="360" cy="347400"/>
          </a:xfrm>
          <a:prstGeom prst="line">
            <a:avLst/>
          </a:prstGeom>
          <a:ln w="16510">
            <a:solidFill>
              <a:srgbClr val="1cb8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41"/>
          <p:cNvSpPr/>
          <p:nvPr/>
        </p:nvSpPr>
        <p:spPr>
          <a:xfrm>
            <a:off x="9601200" y="3319200"/>
            <a:ext cx="360" cy="347400"/>
          </a:xfrm>
          <a:prstGeom prst="line">
            <a:avLst/>
          </a:prstGeom>
          <a:ln w="16510">
            <a:solidFill>
              <a:srgbClr val="1cb8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Shape 42"/>
          <p:cNvSpPr/>
          <p:nvPr/>
        </p:nvSpPr>
        <p:spPr>
          <a:xfrm>
            <a:off x="9601200" y="4169520"/>
            <a:ext cx="360" cy="347400"/>
          </a:xfrm>
          <a:prstGeom prst="line">
            <a:avLst/>
          </a:prstGeom>
          <a:ln w="16510">
            <a:solidFill>
              <a:srgbClr val="1cb8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43"/>
          <p:cNvSpPr/>
          <p:nvPr/>
        </p:nvSpPr>
        <p:spPr>
          <a:xfrm>
            <a:off x="8183880" y="5513760"/>
            <a:ext cx="3474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30" spc="-1" strike="noStrike">
                <a:solidFill>
                  <a:srgbClr val="64788d"/>
                </a:solidFill>
                <a:latin typeface="Aptos"/>
                <a:ea typeface="DejaVu Sans"/>
              </a:rPr>
              <a:t>Complete messages are enqueued to avoid partial NMEA frames.</a:t>
            </a:r>
            <a:endParaRPr b="0" lang="tr-TR" sz="930" spc="-1" strike="noStrike">
              <a:latin typeface="Arial"/>
            </a:endParaRPr>
          </a:p>
        </p:txBody>
      </p:sp>
      <p:sp>
        <p:nvSpPr>
          <p:cNvPr id="145" name="Text 44"/>
          <p:cNvSpPr/>
          <p:nvPr/>
        </p:nvSpPr>
        <p:spPr>
          <a:xfrm>
            <a:off x="502920" y="6546960"/>
            <a:ext cx="41140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20" spc="-1" strike="noStrike">
                <a:solidFill>
                  <a:srgbClr val="8ea1b3"/>
                </a:solidFill>
                <a:latin typeface="Aptos"/>
                <a:ea typeface="DejaVu Sans"/>
              </a:rPr>
              <a:t>Kuartis Embedded Software Homework · 3</a:t>
            </a:r>
            <a:endParaRPr b="0" lang="tr-TR" sz="720" spc="-1" strike="noStrike"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sldNum" idx="7"/>
          </p:nvPr>
        </p:nvSpPr>
        <p:spPr>
          <a:xfrm>
            <a:off x="11155680" y="656532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8ea1b3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A3EF6680-D58C-4A35-982A-A188B84B99CD}" type="slidenum">
              <a:rPr b="0" lang="en-US" sz="800" spc="-1" strike="noStrike">
                <a:solidFill>
                  <a:srgbClr val="8ea1b3"/>
                </a:solidFill>
                <a:latin typeface="Aptos"/>
                <a:ea typeface="Aptos"/>
              </a:rPr>
              <a:t>&lt;number&gt;</a:t>
            </a:fld>
            <a:endParaRPr b="0" lang="tr-TR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502920" y="502920"/>
            <a:ext cx="7680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0b2b46"/>
                </a:solidFill>
                <a:latin typeface="Aptos Display"/>
                <a:ea typeface="Aptos Display"/>
              </a:rPr>
              <a:t>Heading Calculation &amp; Kalman Filtering</a:t>
            </a:r>
            <a:endParaRPr b="0" lang="tr-TR" sz="2700" spc="-1" strike="noStrike"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521280" y="896040"/>
            <a:ext cx="71316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64788d"/>
                </a:solidFill>
                <a:latin typeface="Aptos"/>
                <a:ea typeface="DejaVu Sans"/>
              </a:rPr>
              <a:t>Heading is calculated from calibrated X/Y magnetic components and stabilized before ROS output.</a:t>
            </a:r>
            <a:endParaRPr b="0" lang="tr-TR" sz="850" spc="-1" strike="noStrike"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502920" y="1170360"/>
            <a:ext cx="2057400" cy="360"/>
          </a:xfrm>
          <a:prstGeom prst="line">
            <a:avLst/>
          </a:prstGeom>
          <a:ln w="3175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3"/>
          <p:cNvSpPr/>
          <p:nvPr/>
        </p:nvSpPr>
        <p:spPr>
          <a:xfrm>
            <a:off x="640080" y="1417320"/>
            <a:ext cx="2833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46"/>
                </a:solidFill>
                <a:latin typeface="Aptos"/>
                <a:ea typeface="DejaVu Sans"/>
              </a:rPr>
              <a:t>Heading calculation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151" name="Shape 4"/>
          <p:cNvSpPr/>
          <p:nvPr/>
        </p:nvSpPr>
        <p:spPr>
          <a:xfrm>
            <a:off x="640080" y="1700640"/>
            <a:ext cx="1737360" cy="360"/>
          </a:xfrm>
          <a:prstGeom prst="line">
            <a:avLst/>
          </a:prstGeom>
          <a:ln w="2540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Shape 5"/>
          <p:cNvSpPr/>
          <p:nvPr/>
        </p:nvSpPr>
        <p:spPr>
          <a:xfrm>
            <a:off x="640080" y="1828800"/>
            <a:ext cx="475416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1ec"/>
            </a:solidFill>
            <a:round/>
          </a:ln>
          <a:effectLst>
            <a:outerShdw algn="bl" blurRad="12600" dir="2700000" dist="4989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Text 6"/>
          <p:cNvSpPr/>
          <p:nvPr/>
        </p:nvSpPr>
        <p:spPr>
          <a:xfrm>
            <a:off x="932760" y="207576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0b2b46"/>
                </a:solidFill>
                <a:latin typeface="Aptos"/>
                <a:ea typeface="DejaVu Sans"/>
              </a:rPr>
              <a:t>heading = atan2(Y, X) × 180 / π</a:t>
            </a:r>
            <a:endParaRPr b="0" lang="tr-TR" sz="2100" spc="-1" strike="noStrike"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940680" y="2646000"/>
            <a:ext cx="41598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64788d"/>
                </a:solidFill>
                <a:latin typeface="Aptos"/>
                <a:ea typeface="DejaVu Sans"/>
              </a:rPr>
              <a:t>if heading &lt; 0°  →  heading = heading + 360°</a:t>
            </a:r>
            <a:endParaRPr b="0" lang="tr-TR" sz="1450" spc="-1" strike="noStrike"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777240" y="340164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64788d"/>
                </a:solidFill>
                <a:latin typeface="Aptos"/>
                <a:ea typeface="DejaVu Sans"/>
              </a:rPr>
              <a:t>The output is a magnetic heading in the 0° to 360° range.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640080" y="4005000"/>
            <a:ext cx="2833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46"/>
                </a:solidFill>
                <a:latin typeface="Aptos"/>
                <a:ea typeface="DejaVu Sans"/>
              </a:rPr>
              <a:t>Filtering strategy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157" name="Shape 10"/>
          <p:cNvSpPr/>
          <p:nvPr/>
        </p:nvSpPr>
        <p:spPr>
          <a:xfrm>
            <a:off x="640080" y="4288320"/>
            <a:ext cx="1737360" cy="360"/>
          </a:xfrm>
          <a:prstGeom prst="line">
            <a:avLst/>
          </a:prstGeom>
          <a:ln w="2540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Shape 11"/>
          <p:cNvSpPr/>
          <p:nvPr/>
        </p:nvSpPr>
        <p:spPr>
          <a:xfrm>
            <a:off x="804600" y="4498920"/>
            <a:ext cx="1416600" cy="43812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397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12"/>
          <p:cNvSpPr/>
          <p:nvPr/>
        </p:nvSpPr>
        <p:spPr>
          <a:xfrm>
            <a:off x="850320" y="4572000"/>
            <a:ext cx="13251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20" spc="-1" strike="noStrike">
                <a:solidFill>
                  <a:srgbClr val="0b2b46"/>
                </a:solidFill>
                <a:latin typeface="Aptos"/>
                <a:ea typeface="DejaVu Sans"/>
              </a:rPr>
              <a:t>Calibrated X</a:t>
            </a:r>
            <a:endParaRPr b="0" lang="tr-TR" sz="820" spc="-1" strike="noStrike">
              <a:latin typeface="Arial"/>
            </a:endParaRPr>
          </a:p>
        </p:txBody>
      </p:sp>
      <p:sp>
        <p:nvSpPr>
          <p:cNvPr id="160" name="Shape 13"/>
          <p:cNvSpPr/>
          <p:nvPr/>
        </p:nvSpPr>
        <p:spPr>
          <a:xfrm>
            <a:off x="2761560" y="4498920"/>
            <a:ext cx="1416600" cy="438120"/>
          </a:xfrm>
          <a:prstGeom prst="roundRect">
            <a:avLst>
              <a:gd name="adj" fmla="val 10417"/>
            </a:avLst>
          </a:prstGeom>
          <a:solidFill>
            <a:srgbClr val="e7f7f6"/>
          </a:solidFill>
          <a:ln w="13970">
            <a:solidFill>
              <a:srgbClr val="aee7e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14"/>
          <p:cNvSpPr/>
          <p:nvPr/>
        </p:nvSpPr>
        <p:spPr>
          <a:xfrm>
            <a:off x="2807280" y="4572000"/>
            <a:ext cx="13251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20" spc="-1" strike="noStrike">
                <a:solidFill>
                  <a:srgbClr val="0b2b46"/>
                </a:solidFill>
                <a:latin typeface="Aptos"/>
                <a:ea typeface="DejaVu Sans"/>
              </a:rPr>
              <a:t>Kalman 1D</a:t>
            </a:r>
            <a:endParaRPr b="0" lang="tr-TR" sz="820" spc="-1" strike="noStrike">
              <a:latin typeface="Arial"/>
            </a:endParaRPr>
          </a:p>
        </p:txBody>
      </p:sp>
      <p:sp>
        <p:nvSpPr>
          <p:cNvPr id="162" name="Shape 15"/>
          <p:cNvSpPr/>
          <p:nvPr/>
        </p:nvSpPr>
        <p:spPr>
          <a:xfrm>
            <a:off x="4736520" y="4736520"/>
            <a:ext cx="1416600" cy="621000"/>
          </a:xfrm>
          <a:prstGeom prst="roundRect">
            <a:avLst>
              <a:gd name="adj" fmla="val 7353"/>
            </a:avLst>
          </a:prstGeom>
          <a:solidFill>
            <a:srgbClr val="1cb8b2"/>
          </a:solidFill>
          <a:ln w="1397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16"/>
          <p:cNvSpPr/>
          <p:nvPr/>
        </p:nvSpPr>
        <p:spPr>
          <a:xfrm>
            <a:off x="4782240" y="4809600"/>
            <a:ext cx="13251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20" spc="-1" strike="noStrike">
                <a:solidFill>
                  <a:srgbClr val="ffffff"/>
                </a:solidFill>
                <a:latin typeface="Aptos"/>
                <a:ea typeface="DejaVu Sans"/>
              </a:rPr>
              <a:t>Filtered</a:t>
            </a:r>
            <a:endParaRPr b="0" lang="tr-TR" sz="8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20" spc="-1" strike="noStrike">
                <a:solidFill>
                  <a:srgbClr val="ffffff"/>
                </a:solidFill>
                <a:latin typeface="Aptos"/>
                <a:ea typeface="DejaVu Sans"/>
              </a:rPr>
              <a:t>Heading</a:t>
            </a:r>
            <a:endParaRPr b="0" lang="tr-TR" sz="820" spc="-1" strike="noStrike">
              <a:latin typeface="Arial"/>
            </a:endParaRPr>
          </a:p>
        </p:txBody>
      </p:sp>
      <p:sp>
        <p:nvSpPr>
          <p:cNvPr id="164" name="Shape 17"/>
          <p:cNvSpPr/>
          <p:nvPr/>
        </p:nvSpPr>
        <p:spPr>
          <a:xfrm>
            <a:off x="804600" y="5193720"/>
            <a:ext cx="1416600" cy="43812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397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18"/>
          <p:cNvSpPr/>
          <p:nvPr/>
        </p:nvSpPr>
        <p:spPr>
          <a:xfrm>
            <a:off x="850320" y="5266800"/>
            <a:ext cx="13251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20" spc="-1" strike="noStrike">
                <a:solidFill>
                  <a:srgbClr val="0b2b46"/>
                </a:solidFill>
                <a:latin typeface="Aptos"/>
                <a:ea typeface="DejaVu Sans"/>
              </a:rPr>
              <a:t>Calibrated Y</a:t>
            </a:r>
            <a:endParaRPr b="0" lang="tr-TR" sz="820" spc="-1" strike="noStrike">
              <a:latin typeface="Arial"/>
            </a:endParaRPr>
          </a:p>
        </p:txBody>
      </p:sp>
      <p:sp>
        <p:nvSpPr>
          <p:cNvPr id="166" name="Shape 19"/>
          <p:cNvSpPr/>
          <p:nvPr/>
        </p:nvSpPr>
        <p:spPr>
          <a:xfrm>
            <a:off x="2761560" y="5193720"/>
            <a:ext cx="1416600" cy="438120"/>
          </a:xfrm>
          <a:prstGeom prst="roundRect">
            <a:avLst>
              <a:gd name="adj" fmla="val 10417"/>
            </a:avLst>
          </a:prstGeom>
          <a:solidFill>
            <a:srgbClr val="e7f7f6"/>
          </a:solidFill>
          <a:ln w="13970">
            <a:solidFill>
              <a:srgbClr val="aee7e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20"/>
          <p:cNvSpPr/>
          <p:nvPr/>
        </p:nvSpPr>
        <p:spPr>
          <a:xfrm>
            <a:off x="2807280" y="5266800"/>
            <a:ext cx="13251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20" spc="-1" strike="noStrike">
                <a:solidFill>
                  <a:srgbClr val="0b2b46"/>
                </a:solidFill>
                <a:latin typeface="Aptos"/>
                <a:ea typeface="DejaVu Sans"/>
              </a:rPr>
              <a:t>Kalman 1D</a:t>
            </a:r>
            <a:endParaRPr b="0" lang="tr-TR" sz="820" spc="-1" strike="noStrike">
              <a:latin typeface="Arial"/>
            </a:endParaRPr>
          </a:p>
        </p:txBody>
      </p:sp>
      <p:sp>
        <p:nvSpPr>
          <p:cNvPr id="168" name="Shape 21"/>
          <p:cNvSpPr/>
          <p:nvPr/>
        </p:nvSpPr>
        <p:spPr>
          <a:xfrm>
            <a:off x="2221920" y="4718160"/>
            <a:ext cx="539280" cy="360"/>
          </a:xfrm>
          <a:prstGeom prst="line">
            <a:avLst/>
          </a:prstGeom>
          <a:ln w="16510">
            <a:solidFill>
              <a:srgbClr val="1cb8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Shape 22"/>
          <p:cNvSpPr/>
          <p:nvPr/>
        </p:nvSpPr>
        <p:spPr>
          <a:xfrm>
            <a:off x="2221920" y="5412960"/>
            <a:ext cx="539280" cy="360"/>
          </a:xfrm>
          <a:prstGeom prst="line">
            <a:avLst/>
          </a:prstGeom>
          <a:ln w="16510">
            <a:solidFill>
              <a:srgbClr val="1cb8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23"/>
          <p:cNvSpPr/>
          <p:nvPr/>
        </p:nvSpPr>
        <p:spPr>
          <a:xfrm>
            <a:off x="4178520" y="4718160"/>
            <a:ext cx="558000" cy="292680"/>
          </a:xfrm>
          <a:prstGeom prst="line">
            <a:avLst/>
          </a:prstGeom>
          <a:ln w="16510">
            <a:solidFill>
              <a:srgbClr val="1cb8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Shape 24"/>
          <p:cNvSpPr/>
          <p:nvPr/>
        </p:nvSpPr>
        <p:spPr>
          <a:xfrm flipV="1">
            <a:off x="4178520" y="5074920"/>
            <a:ext cx="558000" cy="338040"/>
          </a:xfrm>
          <a:prstGeom prst="line">
            <a:avLst/>
          </a:prstGeom>
          <a:ln w="16510">
            <a:solidFill>
              <a:srgbClr val="1cb8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25"/>
          <p:cNvSpPr/>
          <p:nvPr/>
        </p:nvSpPr>
        <p:spPr>
          <a:xfrm>
            <a:off x="6720840" y="141732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46"/>
                </a:solidFill>
                <a:latin typeface="Aptos"/>
                <a:ea typeface="DejaVu Sans"/>
              </a:rPr>
              <a:t>Kalman parameter selection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173" name="Shape 26"/>
          <p:cNvSpPr/>
          <p:nvPr/>
        </p:nvSpPr>
        <p:spPr>
          <a:xfrm>
            <a:off x="6720840" y="1700640"/>
            <a:ext cx="1737360" cy="360"/>
          </a:xfrm>
          <a:prstGeom prst="line">
            <a:avLst/>
          </a:prstGeom>
          <a:ln w="2540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Shape 27"/>
          <p:cNvSpPr/>
          <p:nvPr/>
        </p:nvSpPr>
        <p:spPr>
          <a:xfrm>
            <a:off x="6720840" y="1828800"/>
            <a:ext cx="4754160" cy="18738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e1ec"/>
            </a:solidFill>
            <a:round/>
          </a:ln>
          <a:effectLst>
            <a:outerShdw algn="bl" blurRad="12600" dir="2700000" dist="4989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5" name="Text 28"/>
          <p:cNvSpPr/>
          <p:nvPr/>
        </p:nvSpPr>
        <p:spPr>
          <a:xfrm>
            <a:off x="7086600" y="2084760"/>
            <a:ext cx="2285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b2b46"/>
                </a:solidFill>
                <a:latin typeface="Aptos"/>
                <a:ea typeface="DejaVu Sans"/>
              </a:rPr>
              <a:t>Measurement noise R</a:t>
            </a:r>
            <a:endParaRPr b="0" lang="tr-TR" sz="1500" spc="-1" strike="noStrike">
              <a:latin typeface="Arial"/>
            </a:endParaRPr>
          </a:p>
        </p:txBody>
      </p:sp>
      <p:sp>
        <p:nvSpPr>
          <p:cNvPr id="176" name="Text 29"/>
          <p:cNvSpPr/>
          <p:nvPr/>
        </p:nvSpPr>
        <p:spPr>
          <a:xfrm>
            <a:off x="7086600" y="2404800"/>
            <a:ext cx="39769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3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20" spc="-1" strike="noStrike">
                <a:solidFill>
                  <a:srgbClr val="1b3448"/>
                </a:solidFill>
                <a:latin typeface="Aptos"/>
                <a:ea typeface="DejaVu Sans"/>
              </a:rPr>
              <a:t>Stationary magnetic-field variance was estimated with Welford algorithm.</a:t>
            </a:r>
            <a:endParaRPr b="0" lang="tr-TR" sz="1220" spc="-1" strike="noStrike">
              <a:latin typeface="Arial"/>
            </a:endParaRPr>
          </a:p>
        </p:txBody>
      </p:sp>
      <p:sp>
        <p:nvSpPr>
          <p:cNvPr id="177" name="Text 30"/>
          <p:cNvSpPr/>
          <p:nvPr/>
        </p:nvSpPr>
        <p:spPr>
          <a:xfrm>
            <a:off x="7086600" y="2880360"/>
            <a:ext cx="3931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59b98"/>
                </a:solidFill>
                <a:latin typeface="Aptos"/>
                <a:ea typeface="DejaVu Sans"/>
              </a:rPr>
              <a:t>Rx = 0.433 µT²   ·   Ry = 0.393 µT²</a:t>
            </a:r>
            <a:endParaRPr b="0" lang="tr-TR" sz="1350" spc="-1" strike="noStrike">
              <a:latin typeface="Arial"/>
            </a:endParaRPr>
          </a:p>
        </p:txBody>
      </p:sp>
      <p:sp>
        <p:nvSpPr>
          <p:cNvPr id="178" name="Text 31"/>
          <p:cNvSpPr/>
          <p:nvPr/>
        </p:nvSpPr>
        <p:spPr>
          <a:xfrm>
            <a:off x="7086600" y="3191400"/>
            <a:ext cx="3976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80" spc="-1" strike="noStrike">
                <a:solidFill>
                  <a:srgbClr val="64788d"/>
                </a:solidFill>
                <a:latin typeface="Aptos"/>
                <a:ea typeface="DejaVu Sans"/>
              </a:rPr>
              <a:t>Process noise Q = 0.25 µT²/s was tuned for smoothness vs responsiveness.</a:t>
            </a:r>
            <a:endParaRPr b="0" lang="tr-TR" sz="1180" spc="-1" strike="noStrike">
              <a:latin typeface="Arial"/>
            </a:endParaRPr>
          </a:p>
        </p:txBody>
      </p:sp>
      <p:sp>
        <p:nvSpPr>
          <p:cNvPr id="179" name="Shape 32"/>
          <p:cNvSpPr/>
          <p:nvPr/>
        </p:nvSpPr>
        <p:spPr>
          <a:xfrm>
            <a:off x="6720840" y="4005000"/>
            <a:ext cx="4754160" cy="1690920"/>
          </a:xfrm>
          <a:prstGeom prst="roundRect">
            <a:avLst>
              <a:gd name="adj" fmla="val 4324"/>
            </a:avLst>
          </a:prstGeom>
          <a:solidFill>
            <a:srgbClr val="e7f7f6"/>
          </a:solidFill>
          <a:ln w="12700">
            <a:solidFill>
              <a:srgbClr val="b8eae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33"/>
          <p:cNvSpPr/>
          <p:nvPr/>
        </p:nvSpPr>
        <p:spPr>
          <a:xfrm>
            <a:off x="7086600" y="4279320"/>
            <a:ext cx="2468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b2b46"/>
                </a:solidFill>
                <a:latin typeface="Aptos"/>
                <a:ea typeface="DejaVu Sans"/>
              </a:rPr>
              <a:t>Core update equations</a:t>
            </a:r>
            <a:endParaRPr b="0" lang="tr-TR" sz="1500" spc="-1" strike="noStrike">
              <a:latin typeface="Arial"/>
            </a:endParaRPr>
          </a:p>
        </p:txBody>
      </p:sp>
      <p:sp>
        <p:nvSpPr>
          <p:cNvPr id="181" name="Text 34"/>
          <p:cNvSpPr/>
          <p:nvPr/>
        </p:nvSpPr>
        <p:spPr>
          <a:xfrm>
            <a:off x="7178040" y="4645080"/>
            <a:ext cx="4296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0b2b46"/>
                </a:solidFill>
                <a:latin typeface="Aptos"/>
                <a:ea typeface="DejaVu Sans"/>
              </a:rPr>
              <a:t>K = P- / (P- + R)</a:t>
            </a:r>
            <a:endParaRPr b="0" lang="tr-TR" sz="1700" spc="-1" strike="noStrike">
              <a:latin typeface="Arial"/>
            </a:endParaRPr>
          </a:p>
        </p:txBody>
      </p:sp>
      <p:sp>
        <p:nvSpPr>
          <p:cNvPr id="182" name="Text 35"/>
          <p:cNvSpPr/>
          <p:nvPr/>
        </p:nvSpPr>
        <p:spPr>
          <a:xfrm>
            <a:off x="7178040" y="5074920"/>
            <a:ext cx="4296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0b2b46"/>
                </a:solidFill>
                <a:latin typeface="Aptos"/>
                <a:ea typeface="DejaVu Sans"/>
              </a:rPr>
              <a:t>x = x- + K(z - x-)</a:t>
            </a:r>
            <a:endParaRPr b="0" lang="tr-TR" sz="1700" spc="-1" strike="noStrike">
              <a:latin typeface="Arial"/>
            </a:endParaRPr>
          </a:p>
        </p:txBody>
      </p:sp>
      <p:sp>
        <p:nvSpPr>
          <p:cNvPr id="183" name="Text 36"/>
          <p:cNvSpPr/>
          <p:nvPr/>
        </p:nvSpPr>
        <p:spPr>
          <a:xfrm>
            <a:off x="7178040" y="5431680"/>
            <a:ext cx="42969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88d"/>
                </a:solidFill>
                <a:latin typeface="Aptos"/>
                <a:ea typeface="DejaVu Sans"/>
              </a:rPr>
              <a:t>Kalman gain is recalculated at every update.</a:t>
            </a:r>
            <a:endParaRPr b="0" lang="tr-TR" sz="950" spc="-1" strike="noStrike">
              <a:latin typeface="Arial"/>
            </a:endParaRPr>
          </a:p>
        </p:txBody>
      </p:sp>
      <p:sp>
        <p:nvSpPr>
          <p:cNvPr id="184" name="Text 37"/>
          <p:cNvSpPr/>
          <p:nvPr/>
        </p:nvSpPr>
        <p:spPr>
          <a:xfrm>
            <a:off x="502920" y="6546960"/>
            <a:ext cx="41140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20" spc="-1" strike="noStrike">
                <a:solidFill>
                  <a:srgbClr val="8ea1b3"/>
                </a:solidFill>
                <a:latin typeface="Aptos"/>
                <a:ea typeface="DejaVu Sans"/>
              </a:rPr>
              <a:t>Kuartis Embedded Software Homework · 4</a:t>
            </a:r>
            <a:endParaRPr b="0" lang="tr-TR" sz="720" spc="-1" strike="noStrike">
              <a:latin typeface="Arial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sldNum" idx="8"/>
          </p:nvPr>
        </p:nvSpPr>
        <p:spPr>
          <a:xfrm>
            <a:off x="11155680" y="656532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8ea1b3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5698C64D-B6B4-48EE-A74C-EEC75529BCCD}" type="slidenum">
              <a:rPr b="0" lang="en-US" sz="800" spc="-1" strike="noStrike">
                <a:solidFill>
                  <a:srgbClr val="8ea1b3"/>
                </a:solidFill>
                <a:latin typeface="Aptos"/>
                <a:ea typeface="Aptos"/>
              </a:rPr>
              <a:t>&lt;number&gt;</a:t>
            </a:fld>
            <a:endParaRPr b="0" lang="tr-TR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502920" y="502920"/>
            <a:ext cx="7680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0b2b46"/>
                </a:solidFill>
                <a:latin typeface="Aptos Display"/>
                <a:ea typeface="Aptos Display"/>
              </a:rPr>
              <a:t>Performance Validation</a:t>
            </a:r>
            <a:endParaRPr b="0" lang="tr-TR" sz="2700" spc="-1" strike="noStrike"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521280" y="896040"/>
            <a:ext cx="71316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64788d"/>
                </a:solidFill>
                <a:latin typeface="Aptos"/>
                <a:ea typeface="DejaVu Sans"/>
              </a:rPr>
              <a:t>Embedded timing and ROS2 publish rate were measured separately.</a:t>
            </a:r>
            <a:endParaRPr b="0" lang="tr-TR" sz="850" spc="-1" strike="noStrike"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502920" y="1170360"/>
            <a:ext cx="2057400" cy="360"/>
          </a:xfrm>
          <a:prstGeom prst="line">
            <a:avLst/>
          </a:prstGeom>
          <a:ln w="3175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Shape 3"/>
          <p:cNvSpPr/>
          <p:nvPr/>
        </p:nvSpPr>
        <p:spPr>
          <a:xfrm>
            <a:off x="567000" y="1444680"/>
            <a:ext cx="5439960" cy="470844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4"/>
          <p:cNvSpPr/>
          <p:nvPr/>
        </p:nvSpPr>
        <p:spPr>
          <a:xfrm>
            <a:off x="768240" y="1664280"/>
            <a:ext cx="50374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46"/>
                </a:solidFill>
                <a:latin typeface="Aptos"/>
                <a:ea typeface="DejaVu Sans"/>
              </a:rPr>
              <a:t>Embedded timing counters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191" name="Shape 5"/>
          <p:cNvSpPr/>
          <p:nvPr/>
        </p:nvSpPr>
        <p:spPr>
          <a:xfrm>
            <a:off x="822960" y="2194560"/>
            <a:ext cx="4928040" cy="3400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6ee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92" name="Image 0" descr="/mnt/data/embedded_timing.png"/>
          <p:cNvPicPr/>
          <p:nvPr/>
        </p:nvPicPr>
        <p:blipFill>
          <a:blip r:embed="rId1"/>
          <a:stretch/>
        </p:blipFill>
        <p:spPr>
          <a:xfrm>
            <a:off x="877680" y="2286000"/>
            <a:ext cx="4818240" cy="1489680"/>
          </a:xfrm>
          <a:prstGeom prst="rect">
            <a:avLst/>
          </a:prstGeom>
          <a:ln w="0">
            <a:noFill/>
          </a:ln>
        </p:spPr>
      </p:pic>
      <p:sp>
        <p:nvSpPr>
          <p:cNvPr id="193" name="Text 6"/>
          <p:cNvSpPr/>
          <p:nvPr/>
        </p:nvSpPr>
        <p:spPr>
          <a:xfrm>
            <a:off x="822960" y="5650920"/>
            <a:ext cx="49280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40" spc="-1" strike="noStrike">
                <a:solidFill>
                  <a:srgbClr val="0b2b46"/>
                </a:solidFill>
                <a:latin typeface="Aptos"/>
                <a:ea typeface="DejaVu Sans"/>
              </a:rPr>
              <a:t>Embedded result: 99-101 ms period, 2 ms peak-to-peak jitter, 10.003 Hz.</a:t>
            </a:r>
            <a:endParaRPr b="0" lang="tr-TR" sz="1040" spc="-1" strike="noStrike">
              <a:latin typeface="Arial"/>
            </a:endParaRPr>
          </a:p>
        </p:txBody>
      </p:sp>
      <p:sp>
        <p:nvSpPr>
          <p:cNvPr id="194" name="Shape 7"/>
          <p:cNvSpPr/>
          <p:nvPr/>
        </p:nvSpPr>
        <p:spPr>
          <a:xfrm>
            <a:off x="6199560" y="1444680"/>
            <a:ext cx="5439960" cy="470844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8"/>
          <p:cNvSpPr/>
          <p:nvPr/>
        </p:nvSpPr>
        <p:spPr>
          <a:xfrm>
            <a:off x="6400800" y="1664280"/>
            <a:ext cx="50374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46"/>
                </a:solidFill>
                <a:latin typeface="Aptos"/>
                <a:ea typeface="DejaVu Sans"/>
              </a:rPr>
              <a:t>ROS2 publish rate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196" name="Shape 9"/>
          <p:cNvSpPr/>
          <p:nvPr/>
        </p:nvSpPr>
        <p:spPr>
          <a:xfrm>
            <a:off x="6455520" y="2194560"/>
            <a:ext cx="4928040" cy="3400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6ee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97" name="Image 1" descr="/mnt/data/topic_imu_hz.png"/>
          <p:cNvPicPr/>
          <p:nvPr/>
        </p:nvPicPr>
        <p:blipFill>
          <a:blip r:embed="rId2"/>
          <a:stretch/>
        </p:blipFill>
        <p:spPr>
          <a:xfrm>
            <a:off x="6510600" y="2286000"/>
            <a:ext cx="4818240" cy="2961000"/>
          </a:xfrm>
          <a:prstGeom prst="rect">
            <a:avLst/>
          </a:prstGeom>
          <a:ln w="0">
            <a:noFill/>
          </a:ln>
        </p:spPr>
      </p:pic>
      <p:sp>
        <p:nvSpPr>
          <p:cNvPr id="198" name="Text 10"/>
          <p:cNvSpPr/>
          <p:nvPr/>
        </p:nvSpPr>
        <p:spPr>
          <a:xfrm>
            <a:off x="6455520" y="5650920"/>
            <a:ext cx="49280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40" spc="-1" strike="noStrike">
                <a:solidFill>
                  <a:srgbClr val="0b2b46"/>
                </a:solidFill>
                <a:latin typeface="Aptos"/>
                <a:ea typeface="DejaVu Sans"/>
              </a:rPr>
              <a:t>ROS2 result: /imu/data remains at approximately 10 Hz over 849 samples.</a:t>
            </a:r>
            <a:endParaRPr b="0" lang="tr-TR" sz="1040" spc="-1" strike="noStrike">
              <a:latin typeface="Arial"/>
            </a:endParaRPr>
          </a:p>
        </p:txBody>
      </p:sp>
      <p:sp>
        <p:nvSpPr>
          <p:cNvPr id="199" name="Text 11"/>
          <p:cNvSpPr/>
          <p:nvPr/>
        </p:nvSpPr>
        <p:spPr>
          <a:xfrm>
            <a:off x="502920" y="6546960"/>
            <a:ext cx="41140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20" spc="-1" strike="noStrike">
                <a:solidFill>
                  <a:srgbClr val="8ea1b3"/>
                </a:solidFill>
                <a:latin typeface="Aptos"/>
                <a:ea typeface="DejaVu Sans"/>
              </a:rPr>
              <a:t>Kuartis Embedded Software Homework · 5</a:t>
            </a:r>
            <a:endParaRPr b="0" lang="tr-TR" sz="720" spc="-1" strike="noStrike">
              <a:latin typeface="Arial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sldNum" idx="9"/>
          </p:nvPr>
        </p:nvSpPr>
        <p:spPr>
          <a:xfrm>
            <a:off x="11155680" y="656532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8ea1b3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A357ED84-8C39-4916-80A0-17C1A7B7DE32}" type="slidenum">
              <a:rPr b="0" lang="en-US" sz="800" spc="-1" strike="noStrike">
                <a:solidFill>
                  <a:srgbClr val="8ea1b3"/>
                </a:solidFill>
                <a:latin typeface="Aptos"/>
                <a:ea typeface="Aptos"/>
              </a:rPr>
              <a:t>&lt;number&gt;</a:t>
            </a:fld>
            <a:endParaRPr b="0" lang="tr-TR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/>
          <p:nvPr/>
        </p:nvSpPr>
        <p:spPr>
          <a:xfrm>
            <a:off x="502920" y="502920"/>
            <a:ext cx="7680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0b2b46"/>
                </a:solidFill>
                <a:latin typeface="Aptos Display"/>
                <a:ea typeface="Aptos Display"/>
              </a:rPr>
              <a:t>ROS2 Integration Outputs</a:t>
            </a:r>
            <a:endParaRPr b="0" lang="tr-TR" sz="2700" spc="-1" strike="noStrike"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521280" y="896040"/>
            <a:ext cx="71316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64788d"/>
                </a:solidFill>
                <a:latin typeface="Aptos"/>
                <a:ea typeface="DejaVu Sans"/>
              </a:rPr>
              <a:t>Lifecycle node publishes standard ROS interfaces and runtime health information.</a:t>
            </a:r>
            <a:endParaRPr b="0" lang="tr-TR" sz="850" spc="-1" strike="noStrike">
              <a:latin typeface="Arial"/>
            </a:endParaRPr>
          </a:p>
        </p:txBody>
      </p:sp>
      <p:sp>
        <p:nvSpPr>
          <p:cNvPr id="203" name="Shape 2"/>
          <p:cNvSpPr/>
          <p:nvPr/>
        </p:nvSpPr>
        <p:spPr>
          <a:xfrm>
            <a:off x="502920" y="1170360"/>
            <a:ext cx="2057400" cy="360"/>
          </a:xfrm>
          <a:prstGeom prst="line">
            <a:avLst/>
          </a:prstGeom>
          <a:ln w="3175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Shape 3"/>
          <p:cNvSpPr/>
          <p:nvPr/>
        </p:nvSpPr>
        <p:spPr>
          <a:xfrm>
            <a:off x="530280" y="1444680"/>
            <a:ext cx="3583800" cy="4525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4"/>
          <p:cNvSpPr/>
          <p:nvPr/>
        </p:nvSpPr>
        <p:spPr>
          <a:xfrm>
            <a:off x="694800" y="1609200"/>
            <a:ext cx="3254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30" spc="-1" strike="noStrike">
                <a:solidFill>
                  <a:srgbClr val="0b2b46"/>
                </a:solidFill>
                <a:latin typeface="Aptos"/>
                <a:ea typeface="DejaVu Sans"/>
              </a:rPr>
              <a:t>Diagnostics output</a:t>
            </a:r>
            <a:endParaRPr b="0" lang="tr-TR" sz="1330" spc="-1" strike="noStrike">
              <a:latin typeface="Arial"/>
            </a:endParaRPr>
          </a:p>
        </p:txBody>
      </p:sp>
      <p:sp>
        <p:nvSpPr>
          <p:cNvPr id="206" name="Shape 5"/>
          <p:cNvSpPr/>
          <p:nvPr/>
        </p:nvSpPr>
        <p:spPr>
          <a:xfrm>
            <a:off x="694800" y="2103120"/>
            <a:ext cx="3254400" cy="3309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6ee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07" name="Image 0" descr="/mnt/data/diagnostic.png"/>
          <p:cNvPicPr/>
          <p:nvPr/>
        </p:nvPicPr>
        <p:blipFill>
          <a:blip r:embed="rId1"/>
          <a:stretch/>
        </p:blipFill>
        <p:spPr>
          <a:xfrm>
            <a:off x="731520" y="2176200"/>
            <a:ext cx="3181320" cy="2683440"/>
          </a:xfrm>
          <a:prstGeom prst="rect">
            <a:avLst/>
          </a:prstGeom>
          <a:ln w="0">
            <a:noFill/>
          </a:ln>
        </p:spPr>
      </p:pic>
      <p:sp>
        <p:nvSpPr>
          <p:cNvPr id="208" name="Text 6"/>
          <p:cNvSpPr/>
          <p:nvPr/>
        </p:nvSpPr>
        <p:spPr>
          <a:xfrm>
            <a:off x="694800" y="5559480"/>
            <a:ext cx="32544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64788d"/>
                </a:solidFill>
                <a:latin typeface="Aptos"/>
                <a:ea typeface="DejaVu Sans"/>
              </a:rPr>
              <a:t>Connection: Connected, frequency: ~10 Hz.</a:t>
            </a:r>
            <a:endParaRPr b="0" lang="tr-TR" sz="980" spc="-1" strike="noStrike">
              <a:latin typeface="Arial"/>
            </a:endParaRPr>
          </a:p>
        </p:txBody>
      </p:sp>
      <p:sp>
        <p:nvSpPr>
          <p:cNvPr id="209" name="Shape 7"/>
          <p:cNvSpPr/>
          <p:nvPr/>
        </p:nvSpPr>
        <p:spPr>
          <a:xfrm>
            <a:off x="4407480" y="1444680"/>
            <a:ext cx="3583800" cy="4525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8"/>
          <p:cNvSpPr/>
          <p:nvPr/>
        </p:nvSpPr>
        <p:spPr>
          <a:xfrm>
            <a:off x="4572000" y="1609200"/>
            <a:ext cx="3254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30" spc="-1" strike="noStrike">
                <a:solidFill>
                  <a:srgbClr val="0b2b46"/>
                </a:solidFill>
                <a:latin typeface="Aptos"/>
                <a:ea typeface="DejaVu Sans"/>
              </a:rPr>
              <a:t>/imu/data message</a:t>
            </a:r>
            <a:endParaRPr b="0" lang="tr-TR" sz="1330" spc="-1" strike="noStrike">
              <a:latin typeface="Arial"/>
            </a:endParaRPr>
          </a:p>
        </p:txBody>
      </p:sp>
      <p:sp>
        <p:nvSpPr>
          <p:cNvPr id="211" name="Shape 9"/>
          <p:cNvSpPr/>
          <p:nvPr/>
        </p:nvSpPr>
        <p:spPr>
          <a:xfrm>
            <a:off x="4572000" y="2103120"/>
            <a:ext cx="3254400" cy="3309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6ee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12" name="Image 1" descr="/mnt/data/topic_imu_data.png"/>
          <p:cNvPicPr/>
          <p:nvPr/>
        </p:nvPicPr>
        <p:blipFill>
          <a:blip r:embed="rId2"/>
          <a:stretch/>
        </p:blipFill>
        <p:spPr>
          <a:xfrm>
            <a:off x="4608720" y="2176200"/>
            <a:ext cx="3181320" cy="2683440"/>
          </a:xfrm>
          <a:prstGeom prst="rect">
            <a:avLst/>
          </a:prstGeom>
          <a:ln w="0">
            <a:noFill/>
          </a:ln>
        </p:spPr>
      </p:pic>
      <p:sp>
        <p:nvSpPr>
          <p:cNvPr id="213" name="Text 10"/>
          <p:cNvSpPr/>
          <p:nvPr/>
        </p:nvSpPr>
        <p:spPr>
          <a:xfrm>
            <a:off x="4572000" y="5559480"/>
            <a:ext cx="32544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64788d"/>
                </a:solidFill>
                <a:latin typeface="Aptos"/>
                <a:ea typeface="DejaVu Sans"/>
              </a:rPr>
              <a:t>Heading is represented as a yaw quaternion.</a:t>
            </a:r>
            <a:endParaRPr b="0" lang="tr-TR" sz="980" spc="-1" strike="noStrike">
              <a:latin typeface="Arial"/>
            </a:endParaRPr>
          </a:p>
        </p:txBody>
      </p:sp>
      <p:sp>
        <p:nvSpPr>
          <p:cNvPr id="214" name="Shape 11"/>
          <p:cNvSpPr/>
          <p:nvPr/>
        </p:nvSpPr>
        <p:spPr>
          <a:xfrm>
            <a:off x="8284320" y="1444680"/>
            <a:ext cx="3583800" cy="4525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12"/>
          <p:cNvSpPr/>
          <p:nvPr/>
        </p:nvSpPr>
        <p:spPr>
          <a:xfrm>
            <a:off x="8449200" y="1609200"/>
            <a:ext cx="3254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30" spc="-1" strike="noStrike">
                <a:solidFill>
                  <a:srgbClr val="0b2b46"/>
                </a:solidFill>
                <a:latin typeface="Aptos"/>
                <a:ea typeface="DejaVu Sans"/>
              </a:rPr>
              <a:t>TF output</a:t>
            </a:r>
            <a:endParaRPr b="0" lang="tr-TR" sz="1330" spc="-1" strike="noStrike">
              <a:latin typeface="Arial"/>
            </a:endParaRPr>
          </a:p>
        </p:txBody>
      </p:sp>
      <p:sp>
        <p:nvSpPr>
          <p:cNvPr id="216" name="Shape 13"/>
          <p:cNvSpPr/>
          <p:nvPr/>
        </p:nvSpPr>
        <p:spPr>
          <a:xfrm>
            <a:off x="8449200" y="2103120"/>
            <a:ext cx="3254400" cy="3309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6ee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17" name="Image 2" descr="/mnt/data/tf.png"/>
          <p:cNvPicPr/>
          <p:nvPr/>
        </p:nvPicPr>
        <p:blipFill>
          <a:blip r:embed="rId3"/>
          <a:stretch/>
        </p:blipFill>
        <p:spPr>
          <a:xfrm>
            <a:off x="8485560" y="2176200"/>
            <a:ext cx="3181320" cy="2683440"/>
          </a:xfrm>
          <a:prstGeom prst="rect">
            <a:avLst/>
          </a:prstGeom>
          <a:ln w="0">
            <a:noFill/>
          </a:ln>
        </p:spPr>
      </p:pic>
      <p:sp>
        <p:nvSpPr>
          <p:cNvPr id="218" name="Text 14"/>
          <p:cNvSpPr/>
          <p:nvPr/>
        </p:nvSpPr>
        <p:spPr>
          <a:xfrm>
            <a:off x="8449200" y="5559480"/>
            <a:ext cx="32544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64788d"/>
                </a:solidFill>
                <a:latin typeface="Aptos"/>
                <a:ea typeface="DejaVu Sans"/>
              </a:rPr>
              <a:t>base_link to imu_link transform exposes yaw.</a:t>
            </a:r>
            <a:endParaRPr b="0" lang="tr-TR" sz="980" spc="-1" strike="noStrike">
              <a:latin typeface="Arial"/>
            </a:endParaRPr>
          </a:p>
        </p:txBody>
      </p:sp>
      <p:sp>
        <p:nvSpPr>
          <p:cNvPr id="219" name="Text 15"/>
          <p:cNvSpPr/>
          <p:nvPr/>
        </p:nvSpPr>
        <p:spPr>
          <a:xfrm>
            <a:off x="502920" y="6546960"/>
            <a:ext cx="41140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20" spc="-1" strike="noStrike">
                <a:solidFill>
                  <a:srgbClr val="8ea1b3"/>
                </a:solidFill>
                <a:latin typeface="Aptos"/>
                <a:ea typeface="DejaVu Sans"/>
              </a:rPr>
              <a:t>Kuartis Embedded Software Homework · 6</a:t>
            </a:r>
            <a:endParaRPr b="0" lang="tr-TR" sz="720" spc="-1" strike="noStrike">
              <a:latin typeface="Arial"/>
            </a:endParaRPr>
          </a:p>
        </p:txBody>
      </p:sp>
      <p:sp>
        <p:nvSpPr>
          <p:cNvPr id="220" name="PlaceHolder 1"/>
          <p:cNvSpPr>
            <a:spLocks noGrp="1"/>
          </p:cNvSpPr>
          <p:nvPr>
            <p:ph type="sldNum" idx="10"/>
          </p:nvPr>
        </p:nvSpPr>
        <p:spPr>
          <a:xfrm>
            <a:off x="11155680" y="656532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8ea1b3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37408FBA-11D1-4758-8B76-41CCEBA5C5C2}" type="slidenum">
              <a:rPr b="0" lang="en-US" sz="800" spc="-1" strike="noStrike">
                <a:solidFill>
                  <a:srgbClr val="8ea1b3"/>
                </a:solidFill>
                <a:latin typeface="Aptos"/>
                <a:ea typeface="Aptos"/>
              </a:rPr>
              <a:t>&lt;number&gt;</a:t>
            </a:fld>
            <a:endParaRPr b="0" lang="tr-TR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 0"/>
          <p:cNvSpPr/>
          <p:nvPr/>
        </p:nvSpPr>
        <p:spPr>
          <a:xfrm>
            <a:off x="502920" y="502920"/>
            <a:ext cx="1029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0b2b46"/>
                </a:solidFill>
                <a:latin typeface="Aptos Display"/>
                <a:ea typeface="Aptos Display"/>
              </a:rPr>
              <a:t>Challenges, Improvements &amp; Live  Demonstration</a:t>
            </a:r>
            <a:endParaRPr b="0" lang="tr-TR" sz="2700" spc="-1" strike="noStrike">
              <a:latin typeface="Arial"/>
            </a:endParaRPr>
          </a:p>
        </p:txBody>
      </p:sp>
      <p:sp>
        <p:nvSpPr>
          <p:cNvPr id="222" name="Text 1"/>
          <p:cNvSpPr/>
          <p:nvPr/>
        </p:nvSpPr>
        <p:spPr>
          <a:xfrm>
            <a:off x="521280" y="896040"/>
            <a:ext cx="71316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64788d"/>
                </a:solidFill>
                <a:latin typeface="Aptos"/>
                <a:ea typeface="DejaVu Sans"/>
              </a:rPr>
              <a:t>The final step validates the complete embedded-to-ROS data path live.</a:t>
            </a:r>
            <a:endParaRPr b="0" lang="tr-TR" sz="850" spc="-1" strike="noStrike">
              <a:latin typeface="Arial"/>
            </a:endParaRPr>
          </a:p>
        </p:txBody>
      </p:sp>
      <p:sp>
        <p:nvSpPr>
          <p:cNvPr id="223" name="Shape 2"/>
          <p:cNvSpPr/>
          <p:nvPr/>
        </p:nvSpPr>
        <p:spPr>
          <a:xfrm>
            <a:off x="502920" y="1170360"/>
            <a:ext cx="2057400" cy="360"/>
          </a:xfrm>
          <a:prstGeom prst="line">
            <a:avLst/>
          </a:prstGeom>
          <a:ln w="3175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Shape 3"/>
          <p:cNvSpPr/>
          <p:nvPr/>
        </p:nvSpPr>
        <p:spPr>
          <a:xfrm>
            <a:off x="594360" y="1554480"/>
            <a:ext cx="3428280" cy="1965240"/>
          </a:xfrm>
          <a:prstGeom prst="roundRect">
            <a:avLst>
              <a:gd name="adj" fmla="val 3721"/>
            </a:avLst>
          </a:prstGeom>
          <a:solidFill>
            <a:srgbClr val="fef2f2"/>
          </a:solidFill>
          <a:ln w="12700">
            <a:solidFill>
              <a:srgbClr val="f3c6c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4"/>
          <p:cNvSpPr/>
          <p:nvPr/>
        </p:nvSpPr>
        <p:spPr>
          <a:xfrm>
            <a:off x="868680" y="1783080"/>
            <a:ext cx="2468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0b2b46"/>
                </a:solidFill>
                <a:latin typeface="Aptos"/>
                <a:ea typeface="DejaVu Sans"/>
              </a:rPr>
              <a:t>Challenge</a:t>
            </a:r>
            <a:endParaRPr b="0" lang="tr-TR" sz="1700" spc="-1" strike="noStrike"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868680" y="2240280"/>
            <a:ext cx="2833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1b3448"/>
                </a:solidFill>
                <a:latin typeface="Aptos"/>
                <a:ea typeface="DejaVu Sans"/>
              </a:rPr>
              <a:t>Magnetometer data still showed short-term heading fluctuation after calibration.</a:t>
            </a:r>
            <a:endParaRPr b="0" lang="tr-TR" sz="1320" spc="-1" strike="noStrike"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868680" y="2971800"/>
            <a:ext cx="2833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64788d"/>
                </a:solidFill>
                <a:latin typeface="Aptos"/>
                <a:ea typeface="DejaVu Sans"/>
              </a:rPr>
              <a:t>Cause: measurement noise and environmental magnetic disturbance.</a:t>
            </a:r>
            <a:endParaRPr b="0" lang="tr-TR" sz="1020" spc="-1" strike="noStrike">
              <a:latin typeface="Arial"/>
            </a:endParaRPr>
          </a:p>
        </p:txBody>
      </p:sp>
      <p:sp>
        <p:nvSpPr>
          <p:cNvPr id="228" name="Shape 7"/>
          <p:cNvSpPr/>
          <p:nvPr/>
        </p:nvSpPr>
        <p:spPr>
          <a:xfrm>
            <a:off x="4389120" y="1554480"/>
            <a:ext cx="3428280" cy="1965240"/>
          </a:xfrm>
          <a:prstGeom prst="roundRect">
            <a:avLst>
              <a:gd name="adj" fmla="val 3721"/>
            </a:avLst>
          </a:prstGeom>
          <a:solidFill>
            <a:srgbClr val="e7f7f6"/>
          </a:solidFill>
          <a:ln w="12700">
            <a:solidFill>
              <a:srgbClr val="b8eae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8"/>
          <p:cNvSpPr/>
          <p:nvPr/>
        </p:nvSpPr>
        <p:spPr>
          <a:xfrm>
            <a:off x="4663440" y="1783080"/>
            <a:ext cx="2468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0b2b46"/>
                </a:solidFill>
                <a:latin typeface="Aptos"/>
                <a:ea typeface="DejaVu Sans"/>
              </a:rPr>
              <a:t>Solution</a:t>
            </a:r>
            <a:endParaRPr b="0" lang="tr-TR" sz="1700" spc="-1" strike="noStrike"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4663440" y="2240280"/>
            <a:ext cx="2833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1b3448"/>
                </a:solidFill>
                <a:latin typeface="Aptos"/>
                <a:ea typeface="DejaVu Sans"/>
              </a:rPr>
              <a:t>Apply independent scalar Kalman filters to calibrated X and Y before heading calculation.</a:t>
            </a:r>
            <a:endParaRPr b="0" lang="tr-TR" sz="1320" spc="-1" strike="noStrike"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4663440" y="2999160"/>
            <a:ext cx="2833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64788d"/>
                </a:solidFill>
                <a:latin typeface="Aptos"/>
                <a:ea typeface="DejaVu Sans"/>
              </a:rPr>
              <a:t>R was measured from stationary variance; Q was tuned experimentally.</a:t>
            </a:r>
            <a:endParaRPr b="0" lang="tr-TR" sz="1020" spc="-1" strike="noStrike">
              <a:latin typeface="Arial"/>
            </a:endParaRPr>
          </a:p>
        </p:txBody>
      </p:sp>
      <p:sp>
        <p:nvSpPr>
          <p:cNvPr id="232" name="Shape 11"/>
          <p:cNvSpPr/>
          <p:nvPr/>
        </p:nvSpPr>
        <p:spPr>
          <a:xfrm>
            <a:off x="8183880" y="1554480"/>
            <a:ext cx="3428280" cy="1965240"/>
          </a:xfrm>
          <a:prstGeom prst="roundRect">
            <a:avLst>
              <a:gd name="adj" fmla="val 3721"/>
            </a:avLst>
          </a:prstGeom>
          <a:solidFill>
            <a:srgbClr val="fff2de"/>
          </a:solidFill>
          <a:ln w="12700">
            <a:solidFill>
              <a:srgbClr val="f1d1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12"/>
          <p:cNvSpPr/>
          <p:nvPr/>
        </p:nvSpPr>
        <p:spPr>
          <a:xfrm>
            <a:off x="8458200" y="1783080"/>
            <a:ext cx="2559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0b2b46"/>
                </a:solidFill>
                <a:latin typeface="Aptos"/>
                <a:ea typeface="DejaVu Sans"/>
              </a:rPr>
              <a:t>Improvement</a:t>
            </a:r>
            <a:endParaRPr b="0" lang="tr-TR" sz="1700" spc="-1" strike="noStrike">
              <a:latin typeface="Arial"/>
            </a:endParaRPr>
          </a:p>
        </p:txBody>
      </p:sp>
      <p:sp>
        <p:nvSpPr>
          <p:cNvPr id="234" name="Text 13"/>
          <p:cNvSpPr/>
          <p:nvPr/>
        </p:nvSpPr>
        <p:spPr>
          <a:xfrm>
            <a:off x="8458200" y="2240280"/>
            <a:ext cx="2833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1b3448"/>
                </a:solidFill>
                <a:latin typeface="Aptos"/>
                <a:ea typeface="DejaVu Sans"/>
              </a:rPr>
              <a:t>Add tilt compensation to improve heading reliability when the sensor is not level.</a:t>
            </a:r>
            <a:endParaRPr b="0" lang="tr-TR" sz="1320" spc="-1" strike="noStrike">
              <a:latin typeface="Arial"/>
            </a:endParaRPr>
          </a:p>
        </p:txBody>
      </p:sp>
      <p:sp>
        <p:nvSpPr>
          <p:cNvPr id="235" name="Text 14"/>
          <p:cNvSpPr/>
          <p:nvPr/>
        </p:nvSpPr>
        <p:spPr>
          <a:xfrm>
            <a:off x="8458200" y="2971800"/>
            <a:ext cx="2833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2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64788d"/>
                </a:solidFill>
                <a:latin typeface="Aptos"/>
                <a:ea typeface="DejaVu Sans"/>
              </a:rPr>
              <a:t>A future version can fuse accelerometer/orientation data for compensated heading.</a:t>
            </a:r>
            <a:endParaRPr b="0" lang="tr-TR" sz="1020" spc="-1" strike="noStrike"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594360" y="4023360"/>
            <a:ext cx="4114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b2b46"/>
                </a:solidFill>
                <a:latin typeface="Aptos"/>
                <a:ea typeface="DejaVu Sans"/>
              </a:rPr>
              <a:t>Live demonstration sequence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594360" y="4306680"/>
            <a:ext cx="1737360" cy="360"/>
          </a:xfrm>
          <a:prstGeom prst="line">
            <a:avLst/>
          </a:prstGeom>
          <a:ln w="25400">
            <a:solidFill>
              <a:srgbClr val="1cb8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17"/>
          <p:cNvSpPr/>
          <p:nvPr/>
        </p:nvSpPr>
        <p:spPr>
          <a:xfrm>
            <a:off x="685800" y="4480560"/>
            <a:ext cx="265104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Shape 18"/>
          <p:cNvSpPr/>
          <p:nvPr/>
        </p:nvSpPr>
        <p:spPr>
          <a:xfrm>
            <a:off x="850320" y="4736520"/>
            <a:ext cx="310320" cy="310320"/>
          </a:xfrm>
          <a:prstGeom prst="ellipse">
            <a:avLst/>
          </a:prstGeom>
          <a:solidFill>
            <a:srgbClr val="1cb8b2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19"/>
          <p:cNvSpPr/>
          <p:nvPr/>
        </p:nvSpPr>
        <p:spPr>
          <a:xfrm>
            <a:off x="850320" y="4786920"/>
            <a:ext cx="31032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  <a:ea typeface="DejaVu Sans"/>
              </a:rPr>
              <a:t>1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241" name="Text 20"/>
          <p:cNvSpPr/>
          <p:nvPr/>
        </p:nvSpPr>
        <p:spPr>
          <a:xfrm>
            <a:off x="1252800" y="4599360"/>
            <a:ext cx="1937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20" spc="-1" strike="noStrike">
                <a:solidFill>
                  <a:srgbClr val="0b2b46"/>
                </a:solidFill>
                <a:latin typeface="Aptos"/>
                <a:ea typeface="DejaVu Sans"/>
              </a:rPr>
              <a:t>CubeIDE debug</a:t>
            </a:r>
            <a:endParaRPr b="0" lang="tr-TR" sz="1220" spc="-1" strike="noStrike">
              <a:latin typeface="Arial"/>
            </a:endParaRPr>
          </a:p>
        </p:txBody>
      </p:sp>
      <p:sp>
        <p:nvSpPr>
          <p:cNvPr id="242" name="Text 21"/>
          <p:cNvSpPr/>
          <p:nvPr/>
        </p:nvSpPr>
        <p:spPr>
          <a:xfrm>
            <a:off x="1252800" y="4956120"/>
            <a:ext cx="1937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64788d"/>
                </a:solidFill>
                <a:latin typeface="Aptos"/>
                <a:ea typeface="DejaVu Sans"/>
              </a:rPr>
              <a:t>Check calibration_ok and runtime variables.</a:t>
            </a:r>
            <a:endParaRPr b="0" lang="tr-TR" sz="980" spc="-1" strike="noStrike">
              <a:latin typeface="Arial"/>
            </a:endParaRPr>
          </a:p>
        </p:txBody>
      </p:sp>
      <p:sp>
        <p:nvSpPr>
          <p:cNvPr id="243" name="Shape 22"/>
          <p:cNvSpPr/>
          <p:nvPr/>
        </p:nvSpPr>
        <p:spPr>
          <a:xfrm>
            <a:off x="3566160" y="4480560"/>
            <a:ext cx="265104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Shape 23"/>
          <p:cNvSpPr/>
          <p:nvPr/>
        </p:nvSpPr>
        <p:spPr>
          <a:xfrm>
            <a:off x="3730680" y="4736520"/>
            <a:ext cx="310320" cy="310320"/>
          </a:xfrm>
          <a:prstGeom prst="ellipse">
            <a:avLst/>
          </a:prstGeom>
          <a:solidFill>
            <a:srgbClr val="1cb8b2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24"/>
          <p:cNvSpPr/>
          <p:nvPr/>
        </p:nvSpPr>
        <p:spPr>
          <a:xfrm>
            <a:off x="3730680" y="4786920"/>
            <a:ext cx="31032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  <a:ea typeface="DejaVu Sans"/>
              </a:rPr>
              <a:t>2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246" name="Text 25"/>
          <p:cNvSpPr/>
          <p:nvPr/>
        </p:nvSpPr>
        <p:spPr>
          <a:xfrm>
            <a:off x="4133160" y="4599360"/>
            <a:ext cx="1937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20" spc="-1" strike="noStrike">
                <a:solidFill>
                  <a:srgbClr val="0b2b46"/>
                </a:solidFill>
                <a:latin typeface="Aptos"/>
                <a:ea typeface="DejaVu Sans"/>
              </a:rPr>
              <a:t>CubeMonitor graph</a:t>
            </a:r>
            <a:endParaRPr b="0" lang="tr-TR" sz="1220" spc="-1" strike="noStrike">
              <a:latin typeface="Arial"/>
            </a:endParaRPr>
          </a:p>
        </p:txBody>
      </p:sp>
      <p:sp>
        <p:nvSpPr>
          <p:cNvPr id="247" name="Text 26"/>
          <p:cNvSpPr/>
          <p:nvPr/>
        </p:nvSpPr>
        <p:spPr>
          <a:xfrm>
            <a:off x="4133160" y="4956120"/>
            <a:ext cx="1937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64788d"/>
                </a:solidFill>
                <a:latin typeface="Aptos"/>
                <a:ea typeface="DejaVu Sans"/>
              </a:rPr>
              <a:t>Compare raw heading and Kalman-filtered heading.</a:t>
            </a:r>
            <a:endParaRPr b="0" lang="tr-TR" sz="980" spc="-1" strike="noStrike">
              <a:latin typeface="Arial"/>
            </a:endParaRPr>
          </a:p>
        </p:txBody>
      </p:sp>
      <p:sp>
        <p:nvSpPr>
          <p:cNvPr id="248" name="Shape 27"/>
          <p:cNvSpPr/>
          <p:nvPr/>
        </p:nvSpPr>
        <p:spPr>
          <a:xfrm>
            <a:off x="6446520" y="4480560"/>
            <a:ext cx="265104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Shape 28"/>
          <p:cNvSpPr/>
          <p:nvPr/>
        </p:nvSpPr>
        <p:spPr>
          <a:xfrm>
            <a:off x="6611040" y="4736520"/>
            <a:ext cx="310320" cy="310320"/>
          </a:xfrm>
          <a:prstGeom prst="ellipse">
            <a:avLst/>
          </a:prstGeom>
          <a:solidFill>
            <a:srgbClr val="1cb8b2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29"/>
          <p:cNvSpPr/>
          <p:nvPr/>
        </p:nvSpPr>
        <p:spPr>
          <a:xfrm>
            <a:off x="6611040" y="4786920"/>
            <a:ext cx="31032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  <a:ea typeface="DejaVu Sans"/>
              </a:rPr>
              <a:t>3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251" name="Text 30"/>
          <p:cNvSpPr/>
          <p:nvPr/>
        </p:nvSpPr>
        <p:spPr>
          <a:xfrm>
            <a:off x="7013520" y="4599360"/>
            <a:ext cx="1937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20" spc="-1" strike="noStrike">
                <a:solidFill>
                  <a:srgbClr val="0b2b46"/>
                </a:solidFill>
                <a:latin typeface="Aptos"/>
                <a:ea typeface="DejaVu Sans"/>
              </a:rPr>
              <a:t>ROS2 topics</a:t>
            </a:r>
            <a:endParaRPr b="0" lang="tr-TR" sz="1220" spc="-1" strike="noStrike">
              <a:latin typeface="Arial"/>
            </a:endParaRPr>
          </a:p>
        </p:txBody>
      </p:sp>
      <p:sp>
        <p:nvSpPr>
          <p:cNvPr id="252" name="Text 31"/>
          <p:cNvSpPr/>
          <p:nvPr/>
        </p:nvSpPr>
        <p:spPr>
          <a:xfrm>
            <a:off x="7013520" y="4956120"/>
            <a:ext cx="1937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64788d"/>
                </a:solidFill>
                <a:latin typeface="Aptos"/>
                <a:ea typeface="DejaVu Sans"/>
              </a:rPr>
              <a:t>Show /imu/data content and publish rate.</a:t>
            </a:r>
            <a:endParaRPr b="0" lang="tr-TR" sz="980" spc="-1" strike="noStrike">
              <a:latin typeface="Arial"/>
            </a:endParaRPr>
          </a:p>
        </p:txBody>
      </p:sp>
      <p:sp>
        <p:nvSpPr>
          <p:cNvPr id="253" name="Shape 32"/>
          <p:cNvSpPr/>
          <p:nvPr/>
        </p:nvSpPr>
        <p:spPr>
          <a:xfrm>
            <a:off x="9326880" y="4480560"/>
            <a:ext cx="265104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Shape 33"/>
          <p:cNvSpPr/>
          <p:nvPr/>
        </p:nvSpPr>
        <p:spPr>
          <a:xfrm>
            <a:off x="9491400" y="4736520"/>
            <a:ext cx="310320" cy="310320"/>
          </a:xfrm>
          <a:prstGeom prst="ellipse">
            <a:avLst/>
          </a:prstGeom>
          <a:solidFill>
            <a:srgbClr val="1cb8b2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34"/>
          <p:cNvSpPr/>
          <p:nvPr/>
        </p:nvSpPr>
        <p:spPr>
          <a:xfrm>
            <a:off x="9491400" y="4786920"/>
            <a:ext cx="31032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ptos"/>
                <a:ea typeface="DejaVu Sans"/>
              </a:rPr>
              <a:t>4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256" name="Text 35"/>
          <p:cNvSpPr/>
          <p:nvPr/>
        </p:nvSpPr>
        <p:spPr>
          <a:xfrm>
            <a:off x="9893880" y="4599360"/>
            <a:ext cx="1937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20" spc="-1" strike="noStrike">
                <a:solidFill>
                  <a:srgbClr val="0b2b46"/>
                </a:solidFill>
                <a:latin typeface="Aptos"/>
                <a:ea typeface="DejaVu Sans"/>
              </a:rPr>
              <a:t>TF + diagnostics</a:t>
            </a:r>
            <a:endParaRPr b="0" lang="tr-TR" sz="1220" spc="-1" strike="noStrike">
              <a:latin typeface="Arial"/>
            </a:endParaRPr>
          </a:p>
        </p:txBody>
      </p:sp>
      <p:sp>
        <p:nvSpPr>
          <p:cNvPr id="257" name="Text 36"/>
          <p:cNvSpPr/>
          <p:nvPr/>
        </p:nvSpPr>
        <p:spPr>
          <a:xfrm>
            <a:off x="9893880" y="4956120"/>
            <a:ext cx="1937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64788d"/>
                </a:solidFill>
                <a:latin typeface="Aptos"/>
                <a:ea typeface="DejaVu Sans"/>
              </a:rPr>
              <a:t>Show yaw transform and connected status.</a:t>
            </a:r>
            <a:endParaRPr b="0" lang="tr-TR" sz="980" spc="-1" strike="noStrike">
              <a:latin typeface="Arial"/>
            </a:endParaRPr>
          </a:p>
        </p:txBody>
      </p:sp>
      <p:sp>
        <p:nvSpPr>
          <p:cNvPr id="258" name="Text 37"/>
          <p:cNvSpPr/>
          <p:nvPr/>
        </p:nvSpPr>
        <p:spPr>
          <a:xfrm>
            <a:off x="502920" y="6546960"/>
            <a:ext cx="41140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20" spc="-1" strike="noStrike">
                <a:solidFill>
                  <a:srgbClr val="8ea1b3"/>
                </a:solidFill>
                <a:latin typeface="Aptos"/>
                <a:ea typeface="DejaVu Sans"/>
              </a:rPr>
              <a:t>Kuartis Embedded Software Homework · 7</a:t>
            </a:r>
            <a:endParaRPr b="0" lang="tr-TR" sz="720" spc="-1" strike="noStrike">
              <a:latin typeface="Arial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sldNum" idx="11"/>
          </p:nvPr>
        </p:nvSpPr>
        <p:spPr>
          <a:xfrm>
            <a:off x="11155680" y="656532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8ea1b3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AC1A09BF-0B31-451E-B4BA-11C7D9146E3C}" type="slidenum">
              <a:rPr b="0" lang="en-US" sz="800" spc="-1" strike="noStrike">
                <a:solidFill>
                  <a:srgbClr val="8ea1b3"/>
                </a:solidFill>
                <a:latin typeface="Aptos"/>
                <a:ea typeface="Aptos"/>
              </a:rPr>
              <a:t>&lt;number&gt;</a:t>
            </a:fld>
            <a:endParaRPr b="0" lang="tr-TR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  <Words>0</Words>
  <Paragraphs>0</Paragraphs>
  <Company>Kuartis Homework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2026-09-09T00:04:46Z</dcterms:created>
  <dc:creator>Furkan Kara</dc:creator>
  <dc:description/>
  <dc:language>tr-TR</dc:language>
  <cp:lastModifiedBy/>
  <dcterms:modified xsi:type="dcterms:W3CDTF">2026-09-09T03:17:32Z</dcterms:modified>
  <cp:revision>2</cp:revision>
  <dc:subject>Kuartis Embedded Software Homework</dc:subject>
  <dc:title>BNO085 Embedded Heading Sensor System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